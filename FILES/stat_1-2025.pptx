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howSpecialPlsOnTitleSld="0" strictFirstAndLastChars="0" saveSubsetFonts="1">
  <p:sldMasterIdLst>
    <p:sldMasterId id="2147483672" r:id="rId1"/>
  </p:sldMasterIdLst>
  <p:notesMasterIdLst>
    <p:notesMasterId r:id="rId52"/>
  </p:notesMasterIdLst>
  <p:sldIdLst>
    <p:sldId id="258" r:id="rId2"/>
    <p:sldId id="274" r:id="rId3"/>
    <p:sldId id="294" r:id="rId4"/>
    <p:sldId id="288" r:id="rId5"/>
    <p:sldId id="259" r:id="rId6"/>
    <p:sldId id="299" r:id="rId7"/>
    <p:sldId id="300" r:id="rId8"/>
    <p:sldId id="312" r:id="rId9"/>
    <p:sldId id="270" r:id="rId10"/>
    <p:sldId id="275" r:id="rId11"/>
    <p:sldId id="276" r:id="rId12"/>
    <p:sldId id="277" r:id="rId13"/>
    <p:sldId id="334" r:id="rId14"/>
    <p:sldId id="333" r:id="rId15"/>
    <p:sldId id="278" r:id="rId16"/>
    <p:sldId id="279" r:id="rId17"/>
    <p:sldId id="280" r:id="rId18"/>
    <p:sldId id="281" r:id="rId19"/>
    <p:sldId id="289" r:id="rId20"/>
    <p:sldId id="282" r:id="rId21"/>
    <p:sldId id="283" r:id="rId22"/>
    <p:sldId id="284" r:id="rId23"/>
    <p:sldId id="285" r:id="rId24"/>
    <p:sldId id="286" r:id="rId25"/>
    <p:sldId id="292" r:id="rId26"/>
    <p:sldId id="291" r:id="rId27"/>
    <p:sldId id="287" r:id="rId28"/>
    <p:sldId id="313" r:id="rId29"/>
    <p:sldId id="314" r:id="rId30"/>
    <p:sldId id="296" r:id="rId31"/>
    <p:sldId id="335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09" r:id="rId50"/>
    <p:sldId id="332" r:id="rId51"/>
  </p:sldIdLst>
  <p:sldSz cx="13433425" cy="7556500"/>
  <p:notesSz cx="6858000" cy="9144000"/>
  <p:defaultTextStyle>
    <a:defPPr>
      <a:defRPr lang="pl-P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80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129" d="100"/>
          <a:sy n="129" d="100"/>
        </p:scale>
        <p:origin x="384" y="114"/>
      </p:cViewPr>
      <p:guideLst>
        <p:guide orient="horz" pos="2380"/>
        <p:guide pos="42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nieszka Obłąkowska-Mucha" userId="5dbf54e08fa133c2" providerId="LiveId" clId="{26E6164D-1764-4A73-9D70-2ACE418AD8A4}"/>
    <pc:docChg chg="delSld modSld">
      <pc:chgData name="Agnieszka Obłąkowska-Mucha" userId="5dbf54e08fa133c2" providerId="LiveId" clId="{26E6164D-1764-4A73-9D70-2ACE418AD8A4}" dt="2025-09-30T17:42:20.651" v="26" actId="2696"/>
      <pc:docMkLst>
        <pc:docMk/>
      </pc:docMkLst>
      <pc:sldChg chg="modSp mod">
        <pc:chgData name="Agnieszka Obłąkowska-Mucha" userId="5dbf54e08fa133c2" providerId="LiveId" clId="{26E6164D-1764-4A73-9D70-2ACE418AD8A4}" dt="2025-09-30T17:38:56.546" v="25" actId="20577"/>
        <pc:sldMkLst>
          <pc:docMk/>
          <pc:sldMk cId="3233458056" sldId="274"/>
        </pc:sldMkLst>
        <pc:spChg chg="mod">
          <ac:chgData name="Agnieszka Obłąkowska-Mucha" userId="5dbf54e08fa133c2" providerId="LiveId" clId="{26E6164D-1764-4A73-9D70-2ACE418AD8A4}" dt="2025-09-30T17:38:56.546" v="25" actId="20577"/>
          <ac:spMkLst>
            <pc:docMk/>
            <pc:sldMk cId="3233458056" sldId="274"/>
            <ac:spMk id="3" creationId="{00000000-0000-0000-0000-000000000000}"/>
          </ac:spMkLst>
        </pc:spChg>
      </pc:sldChg>
      <pc:sldChg chg="del">
        <pc:chgData name="Agnieszka Obłąkowska-Mucha" userId="5dbf54e08fa133c2" providerId="LiveId" clId="{26E6164D-1764-4A73-9D70-2ACE418AD8A4}" dt="2025-09-30T17:42:20.651" v="26" actId="2696"/>
        <pc:sldMkLst>
          <pc:docMk/>
          <pc:sldMk cId="3234477900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48D99FBD-C3A8-FC1B-F08D-F2EE42F43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174030B-0C93-4D40-B5FD-E9B2C2EDE3C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l-PL" noProof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altLang="pl-PL" noProof="0">
                <a:sym typeface="Helvetica Neue" charset="0"/>
              </a:rPr>
              <a:t>Second level</a:t>
            </a:r>
          </a:p>
          <a:p>
            <a:pPr lvl="2"/>
            <a:r>
              <a:rPr lang="en-US" altLang="pl-PL" noProof="0">
                <a:sym typeface="Helvetica Neue" charset="0"/>
              </a:rPr>
              <a:t>Third level</a:t>
            </a:r>
          </a:p>
          <a:p>
            <a:pPr lvl="3"/>
            <a:r>
              <a:rPr lang="en-US" altLang="pl-PL" noProof="0">
                <a:sym typeface="Helvetica Neue" charset="0"/>
              </a:rPr>
              <a:t>Fourth level</a:t>
            </a:r>
          </a:p>
          <a:p>
            <a:pPr lvl="4"/>
            <a:r>
              <a:rPr lang="en-US" altLang="pl-PL" noProof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386A3-2E31-4C9B-B0BE-45709ADB984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2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B9F80-40CA-D5A3-C106-A90BFA7A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309DC-EB25-49EC-AB5C-F7E9ECC40952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D1662-E0A9-0F8A-80DA-84A13BA1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C7A1E-51AC-9F48-5F74-86B631AB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2FD08B-456C-4C99-B3E3-A19FD7CB811B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2483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AE131-BFB4-0C93-D2F6-279176E8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2A32CC-ECF6-4F69-9949-8A43B72A3970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2B33B-D85B-E44E-F4C6-3BAFDE63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87E37-6D48-040E-2A10-16E9595D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1A7E14-8C57-4962-A746-FC114071AA6E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90871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32CA9-2E17-46E5-7953-24624B72E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A19AA0-85C1-4DF5-868D-44081B7B46B3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7E958-B4F8-F850-D213-C64A3328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34992-B2F5-2B54-619E-4B295A7B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97E40A-3F5E-40B6-A36C-02CEF81DC284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036470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431B06-9764-C257-3B42-1F0049F6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7241F-735A-4099-83CB-99E3F250A41D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9B6A19D-C2DA-4FB6-98B0-E71918ECA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A9E5FB-5883-E621-FB38-B14088C0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C91D9-5983-4A03-B1FF-2FB153C420C8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24288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C49660C-DDF1-CD8A-D6A7-9B0CF0BC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3DD13-C6F3-4BDC-96AF-63F51DC20AA9}" type="datetime1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129937F-BAE4-F851-2A9D-D4F15057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D27CED-A4B5-88B9-5D4A-E6981BCF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722BD3-DC2B-418D-B4D4-8E5EB731BDEB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77978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3E41B7F-D827-A39F-A45C-CCF187C4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2E2D9-D65B-4077-A299-3294FFBE28D6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0A305D1-5E11-D0DA-0309-4444C3A1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68F627-55DD-4F6E-F571-4C12B2CA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638692-816A-473D-93EC-3BF273986996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44628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C82A9B9-77AC-15A7-09F5-55169003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F5DE3-3558-4979-BB95-0E172847F873}" type="datetime1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A1A4122-2BE6-FBD5-57F3-7D99C3BF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79B48C1-14D1-C300-6E38-56FDE829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4D14FC-F5BE-4508-B9BE-9E497F1C5E22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15460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71FA01-A116-983F-BD9D-E8319F0D8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E45E8-1A4C-47D9-9C14-AE092A05CFB9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D9140F7-1272-7CEA-2C65-3B7C67DB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5C8D0D3-A3A5-DCDC-7C98-6B8C2707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BC8BA7-2B33-4ADF-97FC-5A959B064BB6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87968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977773E-AC16-05CA-6573-DA561452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D5CDE-F740-491A-A727-1EA422279CEF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FBFBB13-5475-7C41-958D-8E026345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C4BA23-FA1D-EA05-E763-E537393F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76F587-68E2-4EFC-B33C-8C727625205B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80835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8C514-E1EC-9D01-3D8C-65B864BD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6DC69-F25D-4161-997B-FD2EFF06C21E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258BF-5F7C-05DC-EE3F-1FA94C20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181D9-80E4-F36A-C115-43D509D8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83B02-718F-4065-8F24-3455C37660F0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55371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DF0C2-7517-1498-7FC9-11D438AF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8D4F3-53FA-4321-A753-79FB759FFFAF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D80A0-3977-129C-0C6C-008A6BBD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6682A-3433-C4AF-CB92-AAEE9A77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BB441-514F-44EB-AE1E-AEA43EFDB996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75393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154C8E1-3DB9-E42A-CB0E-F67CC6670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en-US"/>
              <a:t>Kliknij, aby edytować styl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A5EB10-3E93-14C3-9A61-3C89238B15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en-US"/>
              <a:t>Kliknij, aby edytować style wzorca tekstu</a:t>
            </a:r>
          </a:p>
          <a:p>
            <a:pPr lvl="1"/>
            <a:r>
              <a:rPr lang="pl-PL" altLang="en-US"/>
              <a:t>Drugi poziom</a:t>
            </a:r>
          </a:p>
          <a:p>
            <a:pPr lvl="2"/>
            <a:r>
              <a:rPr lang="pl-PL" altLang="en-US"/>
              <a:t>Trzeci poziom</a:t>
            </a:r>
          </a:p>
          <a:p>
            <a:pPr lvl="3"/>
            <a:r>
              <a:rPr lang="pl-PL" altLang="en-US"/>
              <a:t>Czwarty poziom</a:t>
            </a:r>
          </a:p>
          <a:p>
            <a:pPr lvl="4"/>
            <a:r>
              <a:rPr lang="pl-PL" altLang="en-US"/>
              <a:t>Piąty poziom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DB7D0-96A5-45CE-9EA3-B4C5A39F3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20D133A-8F75-4F84-868F-08F47611961E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1EB1E-B8B8-44F6-919E-F619AEA4F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C9296-6093-4636-8862-0D5DEED85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rgbClr val="898989"/>
                </a:solidFill>
              </a:defRPr>
            </a:lvl1pPr>
          </a:lstStyle>
          <a:p>
            <a:fld id="{DCDF8855-5158-4C07-A3E5-3A5CFA9BBBAD}" type="slidenum">
              <a:rPr lang="en-US" altLang="pl-PL"/>
              <a:pPr/>
              <a:t>‹#›</a:t>
            </a:fld>
            <a:endParaRPr lang="en-US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tax.org/details/introductory-statistics" TargetMode="External"/><Relationship Id="rId2" Type="http://schemas.openxmlformats.org/officeDocument/2006/relationships/hyperlink" Target="https://agnieszkamucha.github.io/Statistic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1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41.png"/><Relationship Id="rId4" Type="http://schemas.openxmlformats.org/officeDocument/2006/relationships/image" Target="../media/image1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5" Type="http://schemas.openxmlformats.org/officeDocument/2006/relationships/image" Target="../media/image211.png"/><Relationship Id="rId4" Type="http://schemas.openxmlformats.org/officeDocument/2006/relationships/image" Target="../media/image20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2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1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41.png"/><Relationship Id="rId4" Type="http://schemas.openxmlformats.org/officeDocument/2006/relationships/image" Target="../media/image1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5" Type="http://schemas.openxmlformats.org/officeDocument/2006/relationships/image" Target="../media/image211.png"/><Relationship Id="rId4" Type="http://schemas.openxmlformats.org/officeDocument/2006/relationships/image" Target="../media/image20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25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3" Type="http://schemas.openxmlformats.org/officeDocument/2006/relationships/image" Target="../media/image3.png"/><Relationship Id="rId7" Type="http://schemas.openxmlformats.org/officeDocument/2006/relationships/image" Target="../media/image31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5" Type="http://schemas.openxmlformats.org/officeDocument/2006/relationships/image" Target="../media/image290.png"/><Relationship Id="rId4" Type="http://schemas.openxmlformats.org/officeDocument/2006/relationships/image" Target="../media/image281.png"/><Relationship Id="rId9" Type="http://schemas.openxmlformats.org/officeDocument/2006/relationships/image" Target="../media/image3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3.png"/><Relationship Id="rId7" Type="http://schemas.openxmlformats.org/officeDocument/2006/relationships/image" Target="../media/image48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2396232" y="2321540"/>
            <a:ext cx="8161020" cy="31683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006600"/>
                </a:solidFill>
              </a:rPr>
              <a:t>Introduction to probability, statistics and data handling</a:t>
            </a:r>
            <a:r>
              <a:rPr lang="pl-PL" sz="4000" b="1" dirty="0">
                <a:solidFill>
                  <a:srgbClr val="006600"/>
                </a:solidFill>
              </a:rPr>
              <a:t> </a:t>
            </a:r>
            <a:br>
              <a:rPr lang="pl-PL" sz="4408" b="1" dirty="0">
                <a:solidFill>
                  <a:srgbClr val="006600"/>
                </a:solidFill>
              </a:rPr>
            </a:br>
            <a:br>
              <a:rPr lang="pl-PL" sz="4408" b="1" dirty="0">
                <a:solidFill>
                  <a:srgbClr val="006600"/>
                </a:solidFill>
              </a:rPr>
            </a:br>
            <a:endParaRPr lang="en-US" sz="2000" b="1" dirty="0">
              <a:solidFill>
                <a:srgbClr val="006600"/>
              </a:solidFill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96185" y="5722466"/>
            <a:ext cx="1186357" cy="1314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pole tekstowe 8"/>
          <p:cNvSpPr txBox="1"/>
          <p:nvPr/>
        </p:nvSpPr>
        <p:spPr>
          <a:xfrm>
            <a:off x="2396232" y="5074394"/>
            <a:ext cx="8330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Agnieszka Obłąkowska-Mucha</a:t>
            </a:r>
            <a:br>
              <a:rPr lang="pl-PL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pl-PL" dirty="0">
                <a:latin typeface="Verdana" pitchFamily="34" charset="0"/>
                <a:ea typeface="Verdana" pitchFamily="34" charset="0"/>
                <a:cs typeface="Verdana" pitchFamily="34" charset="0"/>
              </a:rPr>
              <a:t>Tomasz Szumlak</a:t>
            </a:r>
            <a:endParaRPr lang="pl-PL" sz="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519404" y="6082506"/>
            <a:ext cx="8330926" cy="87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l-PL" sz="882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GB" sz="1543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Faculty of Physics and Applied Computer Science</a:t>
            </a:r>
            <a:endParaRPr lang="pl-PL" sz="1543" b="1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pl-PL" sz="1543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AGH University of </a:t>
            </a:r>
            <a:r>
              <a:rPr lang="pl-PL" sz="1543" b="1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Krakow</a:t>
            </a:r>
            <a:r>
              <a:rPr lang="pl-PL" sz="1543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algn="ctr"/>
            <a:r>
              <a:rPr lang="pl-PL" sz="1102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sz="1102" b="1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Intro</a:t>
            </a:r>
            <a:endParaRPr lang="en-GB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396232" y="1918490"/>
            <a:ext cx="9622562" cy="471859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pl-PL" sz="1800" dirty="0"/>
              <a:t> </a:t>
            </a:r>
            <a:r>
              <a:rPr lang="en-GB" sz="1800" dirty="0"/>
              <a:t>Lectures </a:t>
            </a:r>
            <a:r>
              <a:rPr lang="pl-PL" sz="1800" dirty="0"/>
              <a:t> 30</a:t>
            </a:r>
            <a:r>
              <a:rPr lang="en-GB" sz="1800" dirty="0"/>
              <a:t> hours</a:t>
            </a:r>
            <a:r>
              <a:rPr lang="pl-PL" sz="1800"/>
              <a:t> </a:t>
            </a:r>
            <a:endParaRPr lang="en-GB" sz="18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 Tutorials </a:t>
            </a:r>
            <a:r>
              <a:rPr lang="pl-PL" sz="1800" dirty="0"/>
              <a:t>20</a:t>
            </a:r>
            <a:r>
              <a:rPr lang="en-GB" sz="1800" dirty="0"/>
              <a:t> hours (</a:t>
            </a:r>
            <a:r>
              <a:rPr lang="en-GB" sz="1800" b="1" dirty="0"/>
              <a:t>compulsory!</a:t>
            </a:r>
            <a:r>
              <a:rPr lang="en-GB" sz="1800" dirty="0"/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 Computer Labs </a:t>
            </a:r>
            <a:r>
              <a:rPr lang="pl-PL" sz="1800" dirty="0"/>
              <a:t>10</a:t>
            </a:r>
            <a:r>
              <a:rPr lang="en-GB" sz="1800" dirty="0"/>
              <a:t> hours</a:t>
            </a:r>
            <a:r>
              <a:rPr lang="pl-PL" sz="1800" dirty="0"/>
              <a:t> (</a:t>
            </a:r>
            <a:r>
              <a:rPr lang="pl-PL" sz="1800" b="1" dirty="0" err="1"/>
              <a:t>compulsory</a:t>
            </a:r>
            <a:r>
              <a:rPr lang="pl-PL" sz="1800" b="1" dirty="0"/>
              <a:t>!</a:t>
            </a:r>
            <a:r>
              <a:rPr lang="pl-PL" sz="1800" dirty="0"/>
              <a:t>)</a:t>
            </a:r>
            <a:endParaRPr lang="en-GB" sz="18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 Final grades – </a:t>
            </a:r>
            <a:r>
              <a:rPr lang="pl-PL" sz="1800" dirty="0"/>
              <a:t>0.2 </a:t>
            </a:r>
            <a:r>
              <a:rPr lang="pl-PL" sz="1800" dirty="0" err="1"/>
              <a:t>lecture</a:t>
            </a:r>
            <a:r>
              <a:rPr lang="pl-PL" sz="1800" dirty="0"/>
              <a:t> </a:t>
            </a:r>
            <a:r>
              <a:rPr lang="pl-PL" sz="1800" dirty="0" err="1"/>
              <a:t>activity</a:t>
            </a:r>
            <a:r>
              <a:rPr lang="pl-PL" sz="1800" dirty="0"/>
              <a:t> </a:t>
            </a:r>
            <a:r>
              <a:rPr lang="en-GB" sz="1800" dirty="0"/>
              <a:t>0.</a:t>
            </a:r>
            <a:r>
              <a:rPr lang="pl-PL" sz="1800" dirty="0"/>
              <a:t>4</a:t>
            </a:r>
            <a:r>
              <a:rPr lang="en-GB" sz="1800" dirty="0"/>
              <a:t> tutorial + 0.</a:t>
            </a:r>
            <a:r>
              <a:rPr lang="pl-PL" sz="1800" dirty="0"/>
              <a:t>4</a:t>
            </a:r>
            <a:r>
              <a:rPr lang="en-GB" sz="1800" dirty="0"/>
              <a:t> labs</a:t>
            </a:r>
            <a:r>
              <a:rPr lang="pl-PL" sz="1800" dirty="0"/>
              <a:t> </a:t>
            </a:r>
          </a:p>
          <a:p>
            <a:pPr marL="503238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l-PL" sz="1800" b="1" dirty="0" err="1"/>
              <a:t>Note</a:t>
            </a:r>
            <a:r>
              <a:rPr lang="pl-PL" sz="1800" b="1" dirty="0"/>
              <a:t>, </a:t>
            </a:r>
            <a:r>
              <a:rPr lang="pl-PL" sz="1800" b="1" dirty="0" err="1"/>
              <a:t>you</a:t>
            </a:r>
            <a:r>
              <a:rPr lang="pl-PL" sz="1800" b="1" dirty="0"/>
              <a:t> </a:t>
            </a:r>
            <a:r>
              <a:rPr lang="pl-PL" sz="1800" b="1" dirty="0" err="1"/>
              <a:t>may</a:t>
            </a:r>
            <a:r>
              <a:rPr lang="pl-PL" sz="1800" b="1" dirty="0"/>
              <a:t> not </a:t>
            </a:r>
            <a:r>
              <a:rPr lang="pl-PL" sz="1800" b="1" dirty="0" err="1"/>
              <a:t>fail</a:t>
            </a:r>
            <a:r>
              <a:rPr lang="pl-PL" sz="1800" b="1" dirty="0"/>
              <a:t> </a:t>
            </a:r>
            <a:r>
              <a:rPr lang="pl-PL" sz="1800" b="1" dirty="0" err="1"/>
              <a:t>neither</a:t>
            </a:r>
            <a:r>
              <a:rPr lang="pl-PL" sz="1800" b="1" dirty="0"/>
              <a:t> tutorial nor </a:t>
            </a:r>
            <a:r>
              <a:rPr lang="pl-PL" sz="1800" b="1" dirty="0" err="1"/>
              <a:t>labs</a:t>
            </a:r>
            <a:endParaRPr lang="en-GB" sz="1800" b="1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 Please make sure in advance that you have computer account</a:t>
            </a:r>
            <a:r>
              <a:rPr lang="pl-PL" sz="1800" dirty="0"/>
              <a:t> with the </a:t>
            </a:r>
            <a:r>
              <a:rPr lang="pl-PL" sz="1800" dirty="0" err="1"/>
              <a:t>Uni</a:t>
            </a:r>
            <a:r>
              <a:rPr lang="en-GB" sz="1800" dirty="0"/>
              <a:t>!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 </a:t>
            </a:r>
            <a:r>
              <a:rPr lang="pl-PL" sz="1800" dirty="0" err="1"/>
              <a:t>Our</a:t>
            </a:r>
            <a:r>
              <a:rPr lang="en-GB" sz="1800" dirty="0"/>
              <a:t> contact details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l-PL" sz="1800" dirty="0"/>
              <a:t>Agnieszka Obłąkowska-Mucha (</a:t>
            </a:r>
            <a:r>
              <a:rPr lang="pl-PL" sz="1800" dirty="0" err="1"/>
              <a:t>lectures</a:t>
            </a:r>
            <a:r>
              <a:rPr lang="pl-PL" sz="1800" dirty="0"/>
              <a:t>): amucha@agh.edu.pl</a:t>
            </a:r>
            <a:br>
              <a:rPr lang="pl-PL" sz="1800" dirty="0"/>
            </a:br>
            <a:r>
              <a:rPr lang="pl-PL" sz="1800" dirty="0" err="1"/>
              <a:t>Saliha</a:t>
            </a:r>
            <a:r>
              <a:rPr lang="pl-PL" sz="1800" dirty="0"/>
              <a:t> </a:t>
            </a:r>
            <a:r>
              <a:rPr lang="pl-PL" sz="1800" dirty="0" err="1"/>
              <a:t>Bashir</a:t>
            </a:r>
            <a:r>
              <a:rPr lang="pl-PL" sz="1800" dirty="0"/>
              <a:t> (</a:t>
            </a:r>
            <a:r>
              <a:rPr lang="pl-PL" sz="1800" dirty="0" err="1"/>
              <a:t>tutorials</a:t>
            </a:r>
            <a:r>
              <a:rPr lang="pl-PL" sz="1800" dirty="0"/>
              <a:t> and </a:t>
            </a:r>
            <a:r>
              <a:rPr lang="pl-PL" sz="1800" dirty="0" err="1"/>
              <a:t>labs</a:t>
            </a:r>
            <a:r>
              <a:rPr lang="pl-PL" sz="1800" dirty="0"/>
              <a:t>): bashir@agh.edu.pl</a:t>
            </a:r>
            <a:endParaRPr lang="en-GB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 Building </a:t>
            </a:r>
            <a:r>
              <a:rPr lang="pl-PL" sz="1800" dirty="0"/>
              <a:t>D11/110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pl-PL" sz="1800" dirty="0"/>
          </a:p>
          <a:p>
            <a:pPr>
              <a:buFont typeface="Wingdings" panose="05000000000000000000" pitchFamily="2" charset="2"/>
              <a:buChar char="q"/>
            </a:pPr>
            <a:endParaRPr lang="en-GB" sz="1800" dirty="0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D6A0DC-13EF-CC5A-0D97-8D2D6935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35ECA48-5309-443D-DD9D-054DB139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23345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Intro</a:t>
            </a:r>
            <a:endParaRPr lang="en-GB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260328" y="2404564"/>
            <a:ext cx="7936374" cy="471859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1800" dirty="0">
                <a:solidFill>
                  <a:srgbClr val="C00000"/>
                </a:solidFill>
              </a:rPr>
              <a:t>Course web page:  </a:t>
            </a:r>
            <a:r>
              <a:rPr lang="en-GB" sz="1800" dirty="0">
                <a:hlinkClick r:id="rId2"/>
              </a:rPr>
              <a:t>https://agnieszkamucha.github.io/Statistics/</a:t>
            </a:r>
            <a:endParaRPr lang="en-GB" sz="1800" dirty="0"/>
          </a:p>
          <a:p>
            <a:r>
              <a:rPr lang="en-GB" sz="1800" dirty="0">
                <a:solidFill>
                  <a:srgbClr val="C00000"/>
                </a:solidFill>
              </a:rPr>
              <a:t>Textbook:</a:t>
            </a:r>
            <a:r>
              <a:rPr lang="en-GB" sz="1800" dirty="0"/>
              <a:t> </a:t>
            </a:r>
            <a:r>
              <a:rPr lang="en-GB" sz="1800" b="0" i="0" dirty="0">
                <a:solidFill>
                  <a:srgbClr val="232323"/>
                </a:solidFill>
                <a:effectLst/>
              </a:rPr>
              <a:t>Introductory Statistics, OpenStax Access </a:t>
            </a:r>
            <a:r>
              <a:rPr lang="en-GB" sz="1800" b="0" i="0" u="none" strike="noStrike" dirty="0">
                <a:solidFill>
                  <a:srgbClr val="C30000"/>
                </a:solidFill>
                <a:effectLst/>
                <a:hlinkClick r:id="rId3"/>
              </a:rPr>
              <a:t>online</a:t>
            </a:r>
            <a:endParaRPr lang="en-GB" sz="1800" dirty="0"/>
          </a:p>
          <a:p>
            <a:r>
              <a:rPr lang="en-GB" sz="1800" dirty="0">
                <a:solidFill>
                  <a:srgbClr val="C00000"/>
                </a:solidFill>
              </a:rPr>
              <a:t>Lectures:</a:t>
            </a:r>
            <a:r>
              <a:rPr lang="en-GB" sz="1800" dirty="0"/>
              <a:t> slides with discussions</a:t>
            </a:r>
          </a:p>
          <a:p>
            <a:r>
              <a:rPr lang="pl-PL" sz="1800" dirty="0" err="1">
                <a:solidFill>
                  <a:srgbClr val="C00000"/>
                </a:solidFill>
              </a:rPr>
              <a:t>Computer</a:t>
            </a:r>
            <a:r>
              <a:rPr lang="pl-PL" sz="1800" dirty="0">
                <a:solidFill>
                  <a:srgbClr val="C00000"/>
                </a:solidFill>
              </a:rPr>
              <a:t> </a:t>
            </a:r>
            <a:r>
              <a:rPr lang="pl-PL" sz="1800" dirty="0" err="1">
                <a:solidFill>
                  <a:srgbClr val="C00000"/>
                </a:solidFill>
              </a:rPr>
              <a:t>Laboratory</a:t>
            </a:r>
            <a:r>
              <a:rPr lang="pl-PL" sz="1800" dirty="0">
                <a:solidFill>
                  <a:srgbClr val="C00000"/>
                </a:solidFill>
              </a:rPr>
              <a:t>: </a:t>
            </a:r>
            <a:r>
              <a:rPr lang="pl-PL" sz="1800" dirty="0" err="1"/>
              <a:t>follow</a:t>
            </a:r>
            <a:r>
              <a:rPr lang="pl-PL" sz="1800" dirty="0"/>
              <a:t> the </a:t>
            </a:r>
            <a:r>
              <a:rPr lang="pl-PL" sz="1800" dirty="0" err="1"/>
              <a:t>instructions</a:t>
            </a:r>
            <a:r>
              <a:rPr lang="pl-PL" sz="1800" dirty="0"/>
              <a:t>, </a:t>
            </a:r>
            <a:r>
              <a:rPr lang="pl-PL" sz="1800" dirty="0" err="1"/>
              <a:t>complete</a:t>
            </a:r>
            <a:r>
              <a:rPr lang="pl-PL" sz="1800" dirty="0"/>
              <a:t> </a:t>
            </a:r>
            <a:r>
              <a:rPr lang="pl-PL" sz="1800" dirty="0" err="1"/>
              <a:t>tasks</a:t>
            </a:r>
            <a:r>
              <a:rPr lang="en-GB" sz="1800" dirty="0"/>
              <a:t> </a:t>
            </a:r>
            <a:endParaRPr lang="pl-PL" sz="1800" dirty="0"/>
          </a:p>
          <a:p>
            <a:r>
              <a:rPr lang="pl-PL" sz="1800" dirty="0" err="1">
                <a:solidFill>
                  <a:srgbClr val="C00000"/>
                </a:solidFill>
              </a:rPr>
              <a:t>Tutorials</a:t>
            </a:r>
            <a:r>
              <a:rPr lang="pl-PL" sz="1800" dirty="0">
                <a:solidFill>
                  <a:srgbClr val="C00000"/>
                </a:solidFill>
              </a:rPr>
              <a:t>:</a:t>
            </a:r>
            <a:endParaRPr lang="en-GB" sz="1800" dirty="0">
              <a:solidFill>
                <a:srgbClr val="C00000"/>
              </a:solidFill>
            </a:endParaRPr>
          </a:p>
          <a:p>
            <a:pPr marL="881630" lvl="2" indent="0">
              <a:buNone/>
            </a:pPr>
            <a:r>
              <a:rPr lang="en-GB" sz="1800" dirty="0"/>
              <a:t>1. find assignments BEFORE the </a:t>
            </a:r>
            <a:r>
              <a:rPr lang="pl-PL" sz="1800" dirty="0" err="1"/>
              <a:t>day</a:t>
            </a:r>
            <a:r>
              <a:rPr lang="pl-PL" sz="1800" dirty="0"/>
              <a:t> of </a:t>
            </a:r>
            <a:r>
              <a:rPr lang="en-GB" sz="1800" dirty="0"/>
              <a:t>tutorial</a:t>
            </a:r>
          </a:p>
          <a:p>
            <a:pPr marL="881630" lvl="2" indent="0">
              <a:buNone/>
            </a:pPr>
            <a:r>
              <a:rPr lang="en-GB" sz="1800" dirty="0"/>
              <a:t>2. find and read matching lecture or chapter in textbook</a:t>
            </a:r>
          </a:p>
          <a:p>
            <a:pPr marL="881630" lvl="2" indent="0">
              <a:buNone/>
            </a:pPr>
            <a:r>
              <a:rPr lang="en-GB" sz="1800" dirty="0"/>
              <a:t>3. solve or think over the assignments</a:t>
            </a:r>
          </a:p>
          <a:p>
            <a:pPr marL="0" indent="0">
              <a:buNone/>
            </a:pPr>
            <a:r>
              <a:rPr lang="en-GB" sz="1800" dirty="0"/>
              <a:t> 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6A47D87-7D94-4960-B452-869EC9250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0F94E08-33C3-9259-1638-A0F28B09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3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73773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Data and </a:t>
            </a:r>
            <a:r>
              <a:rPr lang="pl-PL" dirty="0" err="1"/>
              <a:t>Experiments</a:t>
            </a:r>
            <a:endParaRPr lang="en-GB" dirty="0"/>
          </a:p>
        </p:txBody>
      </p:sp>
      <p:sp>
        <p:nvSpPr>
          <p:cNvPr id="7" name="Rectangle 2"/>
          <p:cNvSpPr>
            <a:spLocks noGrp="1"/>
          </p:cNvSpPr>
          <p:nvPr>
            <p:ph idx="1"/>
          </p:nvPr>
        </p:nvSpPr>
        <p:spPr>
          <a:xfrm>
            <a:off x="2684264" y="1968287"/>
            <a:ext cx="8902482" cy="523658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Our primary concern in Statistics is </a:t>
            </a:r>
            <a:r>
              <a:rPr lang="en-GB" sz="1800" b="1" dirty="0">
                <a:solidFill>
                  <a:srgbClr val="FF0000"/>
                </a:solidFill>
              </a:rPr>
              <a:t>analysing data </a:t>
            </a:r>
            <a:r>
              <a:rPr lang="en-GB" sz="1800" dirty="0"/>
              <a:t>collected from an </a:t>
            </a:r>
            <a:r>
              <a:rPr lang="en-GB" sz="1800" b="1" dirty="0"/>
              <a:t>experiment </a:t>
            </a:r>
            <a:r>
              <a:rPr lang="en-GB" sz="1800" dirty="0"/>
              <a:t>– this is an essential notion and we should define it well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Just as in the lab, we define an </a:t>
            </a:r>
            <a:r>
              <a:rPr lang="en-GB" sz="1800" b="1" dirty="0"/>
              <a:t>experiment </a:t>
            </a:r>
            <a:r>
              <a:rPr lang="pl-PL" sz="1800" b="1" dirty="0"/>
              <a:t>as a </a:t>
            </a:r>
            <a:r>
              <a:rPr lang="pl-PL" sz="1800" b="1" dirty="0" err="1"/>
              <a:t>procedure</a:t>
            </a:r>
            <a:r>
              <a:rPr lang="pl-PL" sz="1800" b="1" dirty="0"/>
              <a:t> </a:t>
            </a:r>
            <a:r>
              <a:rPr lang="pl-PL" sz="1800" dirty="0"/>
              <a:t>to be </a:t>
            </a:r>
            <a:r>
              <a:rPr lang="pl-PL" sz="1800" dirty="0" err="1"/>
              <a:t>followed</a:t>
            </a:r>
            <a:r>
              <a:rPr lang="pl-PL" sz="1800" dirty="0"/>
              <a:t> – the </a:t>
            </a:r>
            <a:r>
              <a:rPr lang="pl-PL" sz="1800" dirty="0" err="1"/>
              <a:t>outcome</a:t>
            </a:r>
            <a:r>
              <a:rPr lang="pl-PL" sz="1800" dirty="0"/>
              <a:t> of </a:t>
            </a:r>
            <a:r>
              <a:rPr lang="pl-PL" sz="1800" dirty="0" err="1"/>
              <a:t>this</a:t>
            </a:r>
            <a:r>
              <a:rPr lang="pl-PL" sz="1800" dirty="0"/>
              <a:t> </a:t>
            </a:r>
            <a:r>
              <a:rPr lang="pl-PL" sz="1800" dirty="0" err="1"/>
              <a:t>procedure</a:t>
            </a:r>
            <a:r>
              <a:rPr lang="pl-PL" sz="1800" dirty="0"/>
              <a:t> </a:t>
            </a:r>
            <a:r>
              <a:rPr lang="en-GB" sz="1800" b="1" dirty="0"/>
              <a:t>constitutes the result</a:t>
            </a:r>
            <a:r>
              <a:rPr lang="pl-PL" sz="1800" b="1" dirty="0"/>
              <a:t> </a:t>
            </a:r>
            <a:r>
              <a:rPr lang="pl-PL" sz="1800" dirty="0" err="1"/>
              <a:t>which</a:t>
            </a:r>
            <a:r>
              <a:rPr lang="pl-PL" sz="1800" dirty="0"/>
              <a:t> </a:t>
            </a:r>
            <a:r>
              <a:rPr lang="pl-PL" sz="1800" dirty="0" err="1"/>
              <a:t>can</a:t>
            </a:r>
            <a:r>
              <a:rPr lang="pl-PL" sz="1800" dirty="0"/>
              <a:t> be </a:t>
            </a:r>
            <a:r>
              <a:rPr lang="pl-PL" sz="1800" dirty="0" err="1"/>
              <a:t>represented</a:t>
            </a:r>
            <a:r>
              <a:rPr lang="pl-PL" sz="1800" dirty="0"/>
              <a:t> as a </a:t>
            </a:r>
            <a:r>
              <a:rPr lang="pl-PL" sz="1800" b="1" dirty="0"/>
              <a:t>single </a:t>
            </a:r>
            <a:r>
              <a:rPr lang="pl-PL" sz="1800" b="1" dirty="0" err="1"/>
              <a:t>quantity</a:t>
            </a:r>
            <a:r>
              <a:rPr lang="pl-PL" sz="1800" b="1" dirty="0"/>
              <a:t> </a:t>
            </a:r>
            <a:r>
              <a:rPr lang="pl-PL" sz="1800" dirty="0" err="1"/>
              <a:t>or</a:t>
            </a:r>
            <a:r>
              <a:rPr lang="pl-PL" sz="1800" dirty="0"/>
              <a:t> a </a:t>
            </a:r>
            <a:r>
              <a:rPr lang="pl-PL" sz="1800" b="1" dirty="0"/>
              <a:t>set of </a:t>
            </a:r>
            <a:r>
              <a:rPr lang="pl-PL" sz="1800" b="1" dirty="0" err="1"/>
              <a:t>quantities</a:t>
            </a:r>
            <a:r>
              <a:rPr lang="pl-PL" sz="1800" b="1" dirty="0"/>
              <a:t> </a:t>
            </a:r>
            <a:r>
              <a:rPr lang="pl-PL" sz="1800" dirty="0" err="1"/>
              <a:t>or</a:t>
            </a:r>
            <a:r>
              <a:rPr lang="pl-PL" sz="1800" dirty="0"/>
              <a:t> a </a:t>
            </a:r>
            <a:r>
              <a:rPr lang="pl-PL" sz="1800" b="1" dirty="0" err="1"/>
              <a:t>distribution</a:t>
            </a:r>
            <a:endParaRPr lang="pl-PL" sz="1800" b="1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These measured quantities can be </a:t>
            </a:r>
            <a:r>
              <a:rPr lang="en-GB" sz="1800" b="1" dirty="0"/>
              <a:t>discrete</a:t>
            </a:r>
            <a:r>
              <a:rPr lang="en-GB" sz="1800" dirty="0"/>
              <a:t> </a:t>
            </a:r>
            <a:r>
              <a:rPr lang="pl-PL" sz="1800" dirty="0" err="1"/>
              <a:t>or</a:t>
            </a:r>
            <a:r>
              <a:rPr lang="pl-PL" sz="1800" dirty="0"/>
              <a:t> </a:t>
            </a:r>
            <a:r>
              <a:rPr lang="en-GB" sz="1800" b="1" dirty="0"/>
              <a:t>continuous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pl-PL" sz="1800" dirty="0" err="1"/>
              <a:t>Note</a:t>
            </a:r>
            <a:r>
              <a:rPr lang="pl-PL" sz="1800" dirty="0"/>
              <a:t>: n</a:t>
            </a:r>
            <a:r>
              <a:rPr lang="en-GB" sz="1800" dirty="0"/>
              <a:t>o matter how accurately all conditions</a:t>
            </a:r>
            <a:r>
              <a:rPr lang="pl-PL" sz="1800" dirty="0"/>
              <a:t> </a:t>
            </a:r>
            <a:r>
              <a:rPr lang="en-GB" sz="1800" dirty="0"/>
              <a:t>of the experiment are maintained, its results will in general differ</a:t>
            </a:r>
            <a:r>
              <a:rPr lang="pl-PL" sz="1800" dirty="0"/>
              <a:t> – </a:t>
            </a:r>
            <a:r>
              <a:rPr lang="en-GB" sz="1800" dirty="0"/>
              <a:t>the measurement has an </a:t>
            </a:r>
            <a:r>
              <a:rPr lang="en-GB" sz="1800" b="1" dirty="0"/>
              <a:t>intrinsic random component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This can be attributed to the very </a:t>
            </a:r>
            <a:r>
              <a:rPr lang="en-GB" sz="1800" b="1" dirty="0"/>
              <a:t>nature</a:t>
            </a:r>
            <a:r>
              <a:rPr lang="en-GB" sz="1800" dirty="0"/>
              <a:t> of the observed phenomenon or </a:t>
            </a:r>
            <a:r>
              <a:rPr lang="en-GB" sz="1800" b="1" dirty="0"/>
              <a:t>limited accuracy </a:t>
            </a:r>
            <a:r>
              <a:rPr lang="en-GB" sz="1800" dirty="0"/>
              <a:t>of the measurement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This is why we should always use </a:t>
            </a:r>
            <a:r>
              <a:rPr lang="en-GB" sz="1800" b="1" dirty="0"/>
              <a:t>statistics</a:t>
            </a:r>
            <a:r>
              <a:rPr lang="en-GB" sz="1800" dirty="0"/>
              <a:t> to </a:t>
            </a:r>
            <a:r>
              <a:rPr lang="en-GB" sz="1800" b="1" dirty="0"/>
              <a:t>process</a:t>
            </a:r>
            <a:r>
              <a:rPr lang="en-GB" sz="1800" dirty="0"/>
              <a:t> the results of an experiment</a:t>
            </a:r>
            <a:r>
              <a:rPr lang="pl-PL" sz="1800" dirty="0"/>
              <a:t> and </a:t>
            </a:r>
            <a:r>
              <a:rPr lang="en-GB" sz="1800" dirty="0"/>
              <a:t>understand them</a:t>
            </a:r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/>
              <p:cNvSpPr txBox="1"/>
              <p:nvPr/>
            </p:nvSpPr>
            <p:spPr>
              <a:xfrm>
                <a:off x="4449763" y="6226522"/>
                <a:ext cx="6281528" cy="407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645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𝑹𝒆𝒔𝒖𝒍𝒕</m:t>
                      </m:r>
                      <m:r>
                        <a:rPr lang="pl-PL" sz="2645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645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𝑽𝒂𝒍𝒖𝒆</m:t>
                      </m:r>
                      <m:r>
                        <a:rPr lang="pl-PL" sz="2645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±</m:t>
                      </m:r>
                      <m:r>
                        <a:rPr lang="pl-PL" sz="2645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𝑼𝒏𝒄𝒆𝒓𝒕𝒂𝒊𝒏𝒕𝒚</m:t>
                      </m:r>
                      <m:r>
                        <a:rPr lang="pl-PL" sz="2645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[</m:t>
                      </m:r>
                      <m:r>
                        <a:rPr lang="pl-PL" sz="2645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𝑼𝑵𝑰𝑻</m:t>
                      </m:r>
                      <m:r>
                        <a:rPr lang="pl-PL" sz="2645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645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pole tekstow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763" y="6226522"/>
                <a:ext cx="6281528" cy="4070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B8B1654-80CF-D01B-7CE1-21F3BF66B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:a16="http://schemas.microsoft.com/office/drawing/2014/main" id="{989F18A3-59F0-76FF-C5B8-F7673520D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4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69344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7AB549-C9D8-2CF4-F9E6-F77A5BF5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 err="1"/>
              <a:t>Where</a:t>
            </a:r>
            <a:r>
              <a:rPr lang="pl-PL" dirty="0"/>
              <a:t> </a:t>
            </a:r>
            <a:r>
              <a:rPr lang="pl-PL" dirty="0" err="1"/>
              <a:t>can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</a:t>
            </a:r>
            <a:r>
              <a:rPr lang="pl-PL" dirty="0" err="1"/>
              <a:t>find</a:t>
            </a:r>
            <a:r>
              <a:rPr lang="pl-PL" dirty="0"/>
              <a:t> </a:t>
            </a:r>
            <a:r>
              <a:rPr lang="pl-PL" dirty="0" err="1"/>
              <a:t>statistics</a:t>
            </a:r>
            <a:r>
              <a:rPr lang="pl-PL" dirty="0"/>
              <a:t>?</a:t>
            </a:r>
            <a:endParaRPr lang="en-GB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12FDFC97-3831-1E6D-8343-EF6405B8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4D1D-95C4-434F-B246-75306EEB1980}" type="slidenum">
              <a:rPr lang="en-US" altLang="pl-PL" smtClean="0"/>
              <a:pPr/>
              <a:t>5</a:t>
            </a:fld>
            <a:endParaRPr lang="en-US" alt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F07924A-7895-3C93-B3A8-01784C32CA44}"/>
              </a:ext>
            </a:extLst>
          </p:cNvPr>
          <p:cNvSpPr txBox="1"/>
          <p:nvPr/>
        </p:nvSpPr>
        <p:spPr>
          <a:xfrm>
            <a:off x="5780608" y="6542385"/>
            <a:ext cx="2204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Everywhere</a:t>
            </a:r>
            <a:r>
              <a:rPr lang="pl-PL" dirty="0"/>
              <a:t>… </a:t>
            </a:r>
            <a:endParaRPr lang="en-GB" dirty="0"/>
          </a:p>
        </p:txBody>
      </p:sp>
      <p:pic>
        <p:nvPicPr>
          <p:cNvPr id="1026" name="Picture 2" descr="End to End Statistics for Data Science - Analytics Vidhya">
            <a:extLst>
              <a:ext uri="{FF2B5EF4-FFF2-40B4-BE49-F238E27FC236}">
                <a16:creationId xmlns:a16="http://schemas.microsoft.com/office/drawing/2014/main" id="{DBD39A61-1E78-F905-C953-FCC925BE9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11" y="1975787"/>
            <a:ext cx="8487363" cy="420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Importance of Statistics Concepts in Data Science and Machine Learning  | by Yennhi95zz | Medium">
            <a:extLst>
              <a:ext uri="{FF2B5EF4-FFF2-40B4-BE49-F238E27FC236}">
                <a16:creationId xmlns:a16="http://schemas.microsoft.com/office/drawing/2014/main" id="{0D97E092-1724-5A10-A8EA-EB089B54D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8" t="9237" r="8621" b="9522"/>
          <a:stretch/>
        </p:blipFill>
        <p:spPr bwMode="auto">
          <a:xfrm>
            <a:off x="9001905" y="2133204"/>
            <a:ext cx="3992589" cy="388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AE39B2D-CC55-4B7B-9948-01FD75DFB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1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242EBA6D-8FE2-2B96-662E-C54549DE2407}"/>
              </a:ext>
            </a:extLst>
          </p:cNvPr>
          <p:cNvSpPr txBox="1"/>
          <p:nvPr/>
        </p:nvSpPr>
        <p:spPr>
          <a:xfrm>
            <a:off x="1962263" y="6521731"/>
            <a:ext cx="89930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dirty="0"/>
              <a:t>https://ourworldindata.org/covid-deaths-by-vaccination</a:t>
            </a:r>
          </a:p>
        </p:txBody>
      </p:sp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C7F4592-C55E-C191-400A-4F92A52A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4D1D-95C4-434F-B246-75306EEB1980}" type="slidenum">
              <a:rPr lang="en-US" altLang="pl-PL" smtClean="0"/>
              <a:pPr/>
              <a:t>6</a:t>
            </a:fld>
            <a:endParaRPr lang="en-US" altLang="pl-PL"/>
          </a:p>
        </p:txBody>
      </p:sp>
      <p:sp>
        <p:nvSpPr>
          <p:cNvPr id="3" name="Tytuł 1">
            <a:extLst>
              <a:ext uri="{FF2B5EF4-FFF2-40B4-BE49-F238E27FC236}">
                <a16:creationId xmlns:a16="http://schemas.microsoft.com/office/drawing/2014/main" id="{36EC0B4F-00CF-904B-9020-59640E020717}"/>
              </a:ext>
            </a:extLst>
          </p:cNvPr>
          <p:cNvSpPr txBox="1">
            <a:spLocks/>
          </p:cNvSpPr>
          <p:nvPr/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pl-PL" sz="4400" dirty="0"/>
              <a:t>Data</a:t>
            </a:r>
            <a:endParaRPr lang="en-US" sz="4400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A299185-5835-8C5D-FE1C-464D0D75E169}"/>
              </a:ext>
            </a:extLst>
          </p:cNvPr>
          <p:cNvSpPr txBox="1"/>
          <p:nvPr/>
        </p:nvSpPr>
        <p:spPr>
          <a:xfrm>
            <a:off x="2540248" y="1659539"/>
            <a:ext cx="948394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1D3D63"/>
                </a:solidFill>
                <a:latin typeface="Lato" panose="020F0502020204030203" pitchFamily="34" charset="0"/>
              </a:rPr>
              <a:t>Imagine we live in a place with a population of 60 people.</a:t>
            </a:r>
            <a:endParaRPr lang="pl-PL" sz="1800" dirty="0">
              <a:solidFill>
                <a:srgbClr val="1D3D63"/>
              </a:solidFill>
              <a:latin typeface="Lato" panose="020F0502020204030203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1D3D63"/>
                </a:solidFill>
                <a:latin typeface="Lato" panose="020F0502020204030203" pitchFamily="34" charset="0"/>
              </a:rPr>
              <a:t>10 people died</a:t>
            </a:r>
            <a:r>
              <a:rPr lang="pl-PL" sz="1800" dirty="0">
                <a:solidFill>
                  <a:srgbClr val="1D3D63"/>
                </a:solidFill>
                <a:latin typeface="Lato" panose="020F0502020204030203" pitchFamily="34" charset="0"/>
              </a:rPr>
              <a:t> </a:t>
            </a:r>
            <a:r>
              <a:rPr lang="pl-PL" sz="1800" dirty="0" err="1">
                <a:solidFill>
                  <a:srgbClr val="1D3D63"/>
                </a:solidFill>
                <a:latin typeface="Lato" panose="020F0502020204030203" pitchFamily="34" charset="0"/>
              </a:rPr>
              <a:t>because</a:t>
            </a:r>
            <a:r>
              <a:rPr lang="pl-PL" sz="1800" dirty="0">
                <a:solidFill>
                  <a:srgbClr val="1D3D63"/>
                </a:solidFill>
                <a:latin typeface="Lato" panose="020F0502020204030203" pitchFamily="34" charset="0"/>
              </a:rPr>
              <a:t> of Covid-19</a:t>
            </a:r>
            <a:r>
              <a:rPr lang="en-GB" sz="1800" dirty="0">
                <a:solidFill>
                  <a:srgbClr val="1D3D63"/>
                </a:solidFill>
                <a:latin typeface="Lato" panose="020F0502020204030203" pitchFamily="34" charset="0"/>
              </a:rPr>
              <a:t>. And we learn that 50% of them were vaccinated.</a:t>
            </a:r>
            <a:endParaRPr lang="en-GB" sz="18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1D3D63"/>
              </a:solidFill>
              <a:latin typeface="Lato" panose="020F0502020204030203" pitchFamily="34" charset="0"/>
            </a:endParaRPr>
          </a:p>
          <a:p>
            <a:br>
              <a:rPr lang="en-GB" sz="1800" dirty="0"/>
            </a:b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.</a:t>
            </a:r>
            <a:endParaRPr lang="en-GB" sz="1800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67C1232-9B12-8DFC-F6C6-BEF81CFEAA03}"/>
              </a:ext>
            </a:extLst>
          </p:cNvPr>
          <p:cNvSpPr txBox="1"/>
          <p:nvPr/>
        </p:nvSpPr>
        <p:spPr>
          <a:xfrm>
            <a:off x="3357562" y="2620464"/>
            <a:ext cx="6718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The newspaper may read, “Half of those who died from the virus were vaccinated.”</a:t>
            </a:r>
            <a:endParaRPr lang="en-GB" dirty="0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BCC46DD3-ADC6-9615-708A-6619FB0B5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746" y="3428028"/>
            <a:ext cx="4977798" cy="298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01EF8E2-6E1C-02BE-2EA7-2F36FEFD5FDE}"/>
              </a:ext>
            </a:extLst>
          </p:cNvPr>
          <p:cNvSpPr txBox="1"/>
          <p:nvPr/>
        </p:nvSpPr>
        <p:spPr>
          <a:xfrm>
            <a:off x="7868840" y="5296796"/>
            <a:ext cx="49777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dirty="0">
                <a:solidFill>
                  <a:srgbClr val="1D3D63"/>
                </a:solidFill>
                <a:latin typeface="Lato" panose="020F0502020204030203" pitchFamily="34" charset="0"/>
              </a:rPr>
              <a:t>We </a:t>
            </a: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need to know about those who did </a:t>
            </a:r>
            <a:r>
              <a:rPr lang="en-GB" sz="1800" b="0" i="1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not</a:t>
            </a: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 die: how many people in this population were vaccinated? And how many were not vaccinated?</a:t>
            </a:r>
            <a:endParaRPr lang="en-GB" sz="1800" dirty="0"/>
          </a:p>
        </p:txBody>
      </p:sp>
      <p:pic>
        <p:nvPicPr>
          <p:cNvPr id="2052" name="Picture 4" descr="True or false | Baamboozle - Baamboozle | The Most Fun Classroom Games!">
            <a:extLst>
              <a:ext uri="{FF2B5EF4-FFF2-40B4-BE49-F238E27FC236}">
                <a16:creationId xmlns:a16="http://schemas.microsoft.com/office/drawing/2014/main" id="{566321CD-640B-FEDF-5905-91D9A9BEC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139" y="3010859"/>
            <a:ext cx="3071169" cy="182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28A20BFB-65E2-4C02-9ABA-31ED1B35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0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B1E6CF1D-55E8-C6C2-4674-4FE7D8F8E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97" y="1648058"/>
            <a:ext cx="4841829" cy="28839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0B688D2E-26DC-D217-7B18-FE03229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4D1D-95C4-434F-B246-75306EEB1980}" type="slidenum">
              <a:rPr lang="en-US" altLang="pl-PL" smtClean="0"/>
              <a:pPr/>
              <a:t>7</a:t>
            </a:fld>
            <a:endParaRPr lang="en-US" altLang="pl-PL"/>
          </a:p>
        </p:txBody>
      </p:sp>
      <p:sp>
        <p:nvSpPr>
          <p:cNvPr id="3" name="Tytuł 1">
            <a:extLst>
              <a:ext uri="{FF2B5EF4-FFF2-40B4-BE49-F238E27FC236}">
                <a16:creationId xmlns:a16="http://schemas.microsoft.com/office/drawing/2014/main" id="{E4A58CD3-4B7C-C057-A839-702475339329}"/>
              </a:ext>
            </a:extLst>
          </p:cNvPr>
          <p:cNvSpPr txBox="1">
            <a:spLocks/>
          </p:cNvSpPr>
          <p:nvPr/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pl-PL" sz="4400" dirty="0"/>
              <a:t>Data</a:t>
            </a:r>
            <a:endParaRPr lang="en-US" sz="4400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D18DEB9-EF2A-15B4-054E-3E1CDE6839F8}"/>
              </a:ext>
            </a:extLst>
          </p:cNvPr>
          <p:cNvSpPr txBox="1"/>
          <p:nvPr/>
        </p:nvSpPr>
        <p:spPr>
          <a:xfrm>
            <a:off x="2468240" y="4781628"/>
            <a:ext cx="97930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Now we have all the information we need and can calculate the death </a:t>
            </a:r>
            <a:r>
              <a:rPr lang="en-GB" sz="1800" b="0" i="1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rates</a:t>
            </a: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: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Of 10 unvaccinated people, 5 died → </a:t>
            </a:r>
            <a:r>
              <a:rPr lang="en-GB" sz="1800" b="1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the death rate among the unvaccinated is 50%</a:t>
            </a: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Of 50 vaccinated people, 5 died → </a:t>
            </a:r>
            <a:r>
              <a:rPr lang="en-GB" sz="1800" b="1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the death rate among the vaccinated is 10%</a:t>
            </a: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We, therefore, see that the death rate among the vaccinated is </a:t>
            </a:r>
            <a:r>
              <a:rPr lang="en-GB" sz="1800" b="1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5 times lower</a:t>
            </a:r>
            <a:r>
              <a:rPr lang="en-GB" sz="1800" b="0" i="0" dirty="0">
                <a:solidFill>
                  <a:srgbClr val="1D3D63"/>
                </a:solidFill>
                <a:effectLst/>
                <a:latin typeface="Lato" panose="020F0502020204030203" pitchFamily="34" charset="0"/>
              </a:rPr>
              <a:t> than among the unvaccinated.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75CCA8D-5656-46A6-8564-A75BBE7F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0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FD78-F596-93B1-2049-CE23542D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775E9D-F2C0-A464-ACF3-4F99ECC80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Probability vs statistics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90DF8CC2-DBFE-39D4-4A6E-982797ED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4D1D-95C4-434F-B246-75306EEB1980}" type="slidenum">
              <a:rPr lang="en-US" altLang="pl-PL" smtClean="0"/>
              <a:pPr/>
              <a:t>8</a:t>
            </a:fld>
            <a:endParaRPr lang="en-US" altLang="pl-PL"/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930ABBCB-CFC5-1A8C-21D1-9B7E6D387D36}"/>
              </a:ext>
            </a:extLst>
          </p:cNvPr>
          <p:cNvGrpSpPr/>
          <p:nvPr/>
        </p:nvGrpSpPr>
        <p:grpSpPr>
          <a:xfrm>
            <a:off x="1676152" y="2554114"/>
            <a:ext cx="5400600" cy="2448272"/>
            <a:chOff x="1676152" y="2554114"/>
            <a:chExt cx="5400600" cy="2448272"/>
          </a:xfrm>
        </p:grpSpPr>
        <p:sp>
          <p:nvSpPr>
            <p:cNvPr id="5" name="pole tekstowe 4">
              <a:extLst>
                <a:ext uri="{FF2B5EF4-FFF2-40B4-BE49-F238E27FC236}">
                  <a16:creationId xmlns:a16="http://schemas.microsoft.com/office/drawing/2014/main" id="{C7EBF737-5381-D5AA-39D0-64366B975B11}"/>
                </a:ext>
              </a:extLst>
            </p:cNvPr>
            <p:cNvSpPr txBox="1"/>
            <p:nvPr/>
          </p:nvSpPr>
          <p:spPr>
            <a:xfrm>
              <a:off x="1820168" y="2808754"/>
              <a:ext cx="5112568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0" i="0" dirty="0">
                  <a:solidFill>
                    <a:srgbClr val="0D0D0D"/>
                  </a:solidFill>
                  <a:effectLst/>
                  <a:latin typeface="+mn-lt"/>
                </a:rPr>
                <a:t>Probability serves as the foundational framework for statistical analysis, providing the theoretical basis for understanding uncertainty and randomness in data. </a:t>
              </a:r>
              <a:endParaRPr lang="en-GB" dirty="0">
                <a:latin typeface="+mn-lt"/>
              </a:endParaRPr>
            </a:p>
          </p:txBody>
        </p:sp>
        <p:sp>
          <p:nvSpPr>
            <p:cNvPr id="13" name="Strzałka: pięciokąt 12">
              <a:extLst>
                <a:ext uri="{FF2B5EF4-FFF2-40B4-BE49-F238E27FC236}">
                  <a16:creationId xmlns:a16="http://schemas.microsoft.com/office/drawing/2014/main" id="{66BD6552-4127-F8E3-681E-6C5DFD96576A}"/>
                </a:ext>
              </a:extLst>
            </p:cNvPr>
            <p:cNvSpPr/>
            <p:nvPr/>
          </p:nvSpPr>
          <p:spPr>
            <a:xfrm>
              <a:off x="1676152" y="2554114"/>
              <a:ext cx="5400600" cy="2448272"/>
            </a:xfrm>
            <a:prstGeom prst="homePlate">
              <a:avLst>
                <a:gd name="adj" fmla="val 16801"/>
              </a:avLst>
            </a:prstGeom>
            <a:noFill/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Grupa 16">
            <a:extLst>
              <a:ext uri="{FF2B5EF4-FFF2-40B4-BE49-F238E27FC236}">
                <a16:creationId xmlns:a16="http://schemas.microsoft.com/office/drawing/2014/main" id="{2BCDD71D-B0BE-4FF1-0DA7-0AADD616500F}"/>
              </a:ext>
            </a:extLst>
          </p:cNvPr>
          <p:cNvGrpSpPr/>
          <p:nvPr/>
        </p:nvGrpSpPr>
        <p:grpSpPr>
          <a:xfrm>
            <a:off x="7580808" y="2554114"/>
            <a:ext cx="5110608" cy="2592288"/>
            <a:chOff x="7580808" y="2554114"/>
            <a:chExt cx="5110608" cy="2592288"/>
          </a:xfrm>
        </p:grpSpPr>
        <p:sp>
          <p:nvSpPr>
            <p:cNvPr id="11" name="pole tekstowe 10">
              <a:extLst>
                <a:ext uri="{FF2B5EF4-FFF2-40B4-BE49-F238E27FC236}">
                  <a16:creationId xmlns:a16="http://schemas.microsoft.com/office/drawing/2014/main" id="{71DC7B8D-2FAB-423D-78F8-12159F028BB8}"/>
                </a:ext>
              </a:extLst>
            </p:cNvPr>
            <p:cNvSpPr txBox="1"/>
            <p:nvPr/>
          </p:nvSpPr>
          <p:spPr>
            <a:xfrm>
              <a:off x="8189020" y="2810044"/>
              <a:ext cx="4320480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  <a:sym typeface="Arial" panose="020B0604020202020204" pitchFamily="34" charset="0"/>
                </a:rPr>
                <a:t>Statistics utilizes probability theory to make inferences, draw conclusions, and quantify the likelihood of different outcomes within a given dataset.</a:t>
              </a:r>
              <a:endParaRPr lang="en-GB" dirty="0"/>
            </a:p>
          </p:txBody>
        </p:sp>
        <p:sp>
          <p:nvSpPr>
            <p:cNvPr id="16" name="Strzałka: pagon 15">
              <a:extLst>
                <a:ext uri="{FF2B5EF4-FFF2-40B4-BE49-F238E27FC236}">
                  <a16:creationId xmlns:a16="http://schemas.microsoft.com/office/drawing/2014/main" id="{15629DC3-C426-087A-9A98-8E97D8A836EE}"/>
                </a:ext>
              </a:extLst>
            </p:cNvPr>
            <p:cNvSpPr/>
            <p:nvPr/>
          </p:nvSpPr>
          <p:spPr>
            <a:xfrm>
              <a:off x="7580808" y="2554114"/>
              <a:ext cx="5110608" cy="2592288"/>
            </a:xfrm>
            <a:prstGeom prst="chevron">
              <a:avLst>
                <a:gd name="adj" fmla="val 21585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E827DC-8B8F-4EEA-9EBC-CCFC516B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9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4408" dirty="0" err="1"/>
              <a:t>Sample</a:t>
            </a:r>
            <a:r>
              <a:rPr lang="pl-PL" sz="4408" dirty="0"/>
              <a:t> </a:t>
            </a:r>
            <a:r>
              <a:rPr lang="pl-PL" sz="4408" dirty="0" err="1"/>
              <a:t>space</a:t>
            </a:r>
            <a:r>
              <a:rPr lang="pl-PL" sz="4408" dirty="0"/>
              <a:t> (I)</a:t>
            </a:r>
            <a:r>
              <a:rPr lang="en-US" sz="4408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180208" y="1915572"/>
                <a:ext cx="9454691" cy="523658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r>
                  <a:rPr lang="pl-PL" sz="1800" b="1" dirty="0"/>
                  <a:t>Def.1</a:t>
                </a:r>
                <a:r>
                  <a:rPr lang="pl-PL" sz="1800" dirty="0"/>
                  <a:t>  A set </a:t>
                </a:r>
                <a:r>
                  <a:rPr lang="el-GR" sz="1800" dirty="0"/>
                  <a:t>Ω</a:t>
                </a:r>
                <a:r>
                  <a:rPr lang="pl-PL" sz="1800" dirty="0"/>
                  <a:t> </a:t>
                </a:r>
                <a:r>
                  <a:rPr lang="en-GB" sz="1800" dirty="0"/>
                  <a:t>that consists of all possible outcomes of a</a:t>
                </a:r>
                <a:r>
                  <a:rPr lang="pl-PL" sz="1800" dirty="0"/>
                  <a:t>n</a:t>
                </a:r>
                <a:r>
                  <a:rPr lang="en-GB" sz="1800" dirty="0"/>
                  <a:t> experiment is called a </a:t>
                </a:r>
                <a:r>
                  <a:rPr lang="en-GB" sz="1800" b="1" dirty="0"/>
                  <a:t>sample space</a:t>
                </a:r>
                <a:r>
                  <a:rPr lang="en-GB" sz="1800" dirty="0"/>
                  <a:t>, then each outcome is called a </a:t>
                </a:r>
                <a:r>
                  <a:rPr lang="en-GB" sz="1800" b="1" dirty="0"/>
                  <a:t>sample point</a:t>
                </a:r>
                <a:r>
                  <a:rPr lang="en-GB" sz="1800" dirty="0"/>
                  <a:t>. Often, we can define more than one sample space</a:t>
                </a:r>
                <a:r>
                  <a:rPr lang="pl-PL" sz="1800" dirty="0"/>
                  <a:t>.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r>
                  <a:rPr lang="pl-PL" sz="1800" b="1" dirty="0"/>
                  <a:t>Ex.1 </a:t>
                </a:r>
                <a:r>
                  <a:rPr lang="en-GB" sz="1800" dirty="0"/>
                  <a:t>Imagine we toss a die once – a sample space of all possible results we can get is given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2,…, 5, 6</m:t>
                        </m:r>
                      </m:e>
                    </m:d>
                  </m:oMath>
                </a14:m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r>
                  <a:rPr lang="pl-PL" sz="1800" b="1" dirty="0"/>
                  <a:t>Ex. 2 </a:t>
                </a:r>
                <a:r>
                  <a:rPr lang="en-GB" sz="1800" dirty="0"/>
                  <a:t>Let’s toss a coin twice. We can use the following: 0 == tails and 1== heads. The sample space can be then represented on a graph like this</a:t>
                </a:r>
                <a:r>
                  <a:rPr lang="pl-PL" sz="1800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endParaRPr lang="pl-PL" sz="1800" dirty="0"/>
              </a:p>
              <a:p>
                <a:pPr marL="376432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61"/>
                  </a:spcAft>
                </a:pPr>
                <a:r>
                  <a:rPr lang="pl-PL" sz="1800" dirty="0"/>
                  <a:t>    The </a:t>
                </a:r>
                <a:r>
                  <a:rPr lang="en-GB" sz="1800" dirty="0"/>
                  <a:t>above corresponds to a space</a:t>
                </a:r>
                <a:r>
                  <a:rPr lang="pl-PL" sz="18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𝐻𝐻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𝐻𝑇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𝑇𝐻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𝑇𝑇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80208" y="1915572"/>
                <a:ext cx="9454691" cy="5236582"/>
              </a:xfrm>
              <a:blipFill>
                <a:blip r:embed="rId2"/>
                <a:stretch>
                  <a:fillRect l="-451" t="-5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raz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pic>
        <p:nvPicPr>
          <p:cNvPr id="2" name="Obraz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584" y="4714354"/>
            <a:ext cx="2099028" cy="1437834"/>
          </a:xfrm>
          <a:prstGeom prst="rect">
            <a:avLst/>
          </a:prstGeom>
        </p:spPr>
      </p:pic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083AAA2-F149-E8D2-121B-DFE52EA5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C66CF7E-7AFB-8412-4001-6EB4D836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9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581813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Sample</a:t>
            </a:r>
            <a:r>
              <a:rPr lang="pl-PL" dirty="0"/>
              <a:t> </a:t>
            </a:r>
            <a:r>
              <a:rPr lang="pl-PL" dirty="0" err="1"/>
              <a:t>space</a:t>
            </a:r>
            <a:r>
              <a:rPr lang="pl-PL" dirty="0"/>
              <a:t> (II)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730919" y="2394434"/>
                <a:ext cx="8687956" cy="295232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b="1" dirty="0"/>
                  <a:t>Def. 2 </a:t>
                </a:r>
                <a:r>
                  <a:rPr lang="en-GB" sz="1800" dirty="0"/>
                  <a:t>If a sample space has a finite </a:t>
                </a:r>
                <a:r>
                  <a:rPr lang="en-GB" sz="1800" dirty="0" err="1"/>
                  <a:t>num</a:t>
                </a:r>
                <a:r>
                  <a:rPr lang="pl-PL" sz="1800" dirty="0"/>
                  <a:t>b</a:t>
                </a:r>
                <a:r>
                  <a:rPr lang="en-GB" sz="1800" dirty="0" err="1"/>
                  <a:t>er</a:t>
                </a:r>
                <a:r>
                  <a:rPr lang="en-GB" sz="1800" dirty="0"/>
                  <a:t> of points, it is called a </a:t>
                </a:r>
                <a:r>
                  <a:rPr lang="en-GB" sz="1800" b="1" dirty="0"/>
                  <a:t>finite sample </a:t>
                </a:r>
                <a:r>
                  <a:rPr lang="en-GB" sz="1800" dirty="0"/>
                  <a:t>space. 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b="1" dirty="0"/>
                  <a:t>Def. 3 </a:t>
                </a:r>
                <a:r>
                  <a:rPr lang="en-GB" sz="1800" dirty="0"/>
                  <a:t>If a sample space has as many points as there are natural numbers (1, 2, 3, …, N, …), it is called a </a:t>
                </a:r>
                <a:r>
                  <a:rPr lang="en-GB" sz="1800" b="1" dirty="0"/>
                  <a:t>countably </a:t>
                </a:r>
                <a:r>
                  <a:rPr lang="pl-PL" sz="1800" b="1" dirty="0"/>
                  <a:t>i</a:t>
                </a:r>
                <a:r>
                  <a:rPr lang="en-GB" sz="1800" b="1" dirty="0" err="1"/>
                  <a:t>nfinite</a:t>
                </a:r>
                <a:r>
                  <a:rPr lang="en-GB" sz="1800" b="1" dirty="0"/>
                  <a:t> space</a:t>
                </a:r>
                <a:r>
                  <a:rPr lang="en-GB" sz="1800" dirty="0"/>
                  <a:t>. 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b="1" dirty="0"/>
                  <a:t>Def. 4 </a:t>
                </a:r>
                <a:r>
                  <a:rPr lang="en-GB" sz="1800" dirty="0"/>
                  <a:t>If a sample space has as many points as there are in an any interval on the x-axis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800" dirty="0"/>
                  <a:t>, it is called a non</a:t>
                </a:r>
                <a:r>
                  <a:rPr lang="pl-PL" sz="1800" dirty="0"/>
                  <a:t>-</a:t>
                </a:r>
                <a:r>
                  <a:rPr lang="en-GB" sz="1800" dirty="0"/>
                  <a:t>countably infinite space.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b="1" dirty="0"/>
                  <a:t>Def. 5 </a:t>
                </a:r>
                <a:r>
                  <a:rPr lang="en-GB" sz="1800" dirty="0"/>
                  <a:t>A sample space that is finite or countably infinite is called a </a:t>
                </a:r>
                <a:r>
                  <a:rPr lang="en-GB" sz="1800" b="1" dirty="0"/>
                  <a:t>discrete sample space</a:t>
                </a:r>
                <a:r>
                  <a:rPr lang="en-GB" sz="18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b="1" dirty="0"/>
                  <a:t>Def. 6 </a:t>
                </a:r>
                <a:r>
                  <a:rPr lang="en-GB" sz="1800" dirty="0"/>
                  <a:t>A sample space that is non</a:t>
                </a:r>
                <a:r>
                  <a:rPr lang="pl-PL" sz="1800" dirty="0"/>
                  <a:t>-</a:t>
                </a:r>
                <a:r>
                  <a:rPr lang="en-GB" sz="1800" dirty="0"/>
                  <a:t>countably </a:t>
                </a:r>
                <a:r>
                  <a:rPr lang="pl-PL" sz="1800" dirty="0"/>
                  <a:t>i</a:t>
                </a:r>
                <a:r>
                  <a:rPr lang="en-GB" sz="1800" dirty="0" err="1"/>
                  <a:t>nfinite</a:t>
                </a:r>
                <a:r>
                  <a:rPr lang="en-GB" sz="1800" dirty="0"/>
                  <a:t> is called a </a:t>
                </a:r>
                <a:r>
                  <a:rPr lang="en-GB" sz="1800" b="1" dirty="0"/>
                  <a:t>continuous sample space</a:t>
                </a:r>
                <a:r>
                  <a:rPr lang="pl-PL" sz="1800" dirty="0"/>
                  <a:t>.</a:t>
                </a:r>
                <a:endParaRPr lang="en-US" sz="1800" b="1" dirty="0"/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30919" y="2394434"/>
                <a:ext cx="8687956" cy="2952328"/>
              </a:xfrm>
              <a:blipFill>
                <a:blip r:embed="rId2"/>
                <a:stretch>
                  <a:fillRect l="-351" t="-1653" r="-772" b="-2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FED8685-EDCA-9B75-4F2E-0C70C9095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37BF1D-8B69-6B81-999C-E6D7FEBB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10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191253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Events</a:t>
            </a:r>
            <a:r>
              <a:rPr lang="pl-PL" dirty="0"/>
              <a:t> (I)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540248" y="1840324"/>
                <a:ext cx="8734304" cy="5236582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pl-PL" sz="1800" b="1" dirty="0"/>
                  <a:t>Def. 7 </a:t>
                </a:r>
                <a:r>
                  <a:rPr lang="pl-PL" sz="1800" dirty="0" err="1"/>
                  <a:t>An</a:t>
                </a:r>
                <a:r>
                  <a:rPr lang="pl-PL" sz="1800" dirty="0"/>
                  <a:t> </a:t>
                </a:r>
                <a:r>
                  <a:rPr lang="pl-PL" sz="1800" b="1" dirty="0"/>
                  <a:t>event</a:t>
                </a:r>
                <a:r>
                  <a:rPr lang="pl-PL" sz="1800" dirty="0"/>
                  <a:t>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 a </a:t>
                </a:r>
                <a:r>
                  <a:rPr lang="pl-PL" sz="1800" dirty="0" err="1"/>
                  <a:t>subset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pl-PL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b="1" dirty="0"/>
                  <a:t> </a:t>
                </a:r>
                <a:r>
                  <a:rPr lang="pl-PL" sz="1800" dirty="0"/>
                  <a:t>of the </a:t>
                </a:r>
                <a:r>
                  <a:rPr lang="pl-PL" sz="1800" dirty="0" err="1"/>
                  <a:t>sample</a:t>
                </a:r>
                <a:r>
                  <a:rPr lang="pl-PL" sz="1800" dirty="0"/>
                  <a:t> </a:t>
                </a:r>
                <a:r>
                  <a:rPr lang="pl-PL" sz="1800" dirty="0" err="1"/>
                  <a:t>space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l-PL" sz="1800" dirty="0"/>
                  <a:t>, i.e., </a:t>
                </a:r>
                <a:r>
                  <a:rPr lang="pl-PL" sz="1800" dirty="0" err="1"/>
                  <a:t>it</a:t>
                </a:r>
                <a:r>
                  <a:rPr lang="pl-PL" sz="1800" dirty="0"/>
                  <a:t>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 a set of </a:t>
                </a:r>
                <a:r>
                  <a:rPr lang="pl-PL" sz="1800" dirty="0" err="1"/>
                  <a:t>possible</a:t>
                </a:r>
                <a:r>
                  <a:rPr lang="pl-PL" sz="1800" dirty="0"/>
                  <a:t> </a:t>
                </a:r>
                <a:r>
                  <a:rPr lang="pl-PL" sz="1800" dirty="0" err="1"/>
                  <a:t>outcomes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that</a:t>
                </a:r>
                <a:r>
                  <a:rPr lang="pl-PL" sz="1800" dirty="0"/>
                  <a:t> we </a:t>
                </a:r>
                <a:r>
                  <a:rPr lang="pl-PL" sz="1800" dirty="0" err="1"/>
                  <a:t>are</a:t>
                </a:r>
                <a:r>
                  <a:rPr lang="pl-PL" sz="1800" dirty="0"/>
                  <a:t> </a:t>
                </a:r>
                <a:r>
                  <a:rPr lang="pl-PL" sz="1800" dirty="0" err="1"/>
                  <a:t>interested</a:t>
                </a:r>
                <a:r>
                  <a:rPr lang="pl-PL" sz="1800" dirty="0"/>
                  <a:t> in.</a:t>
                </a:r>
              </a:p>
              <a:p>
                <a:pPr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pl-PL" sz="1800" b="1" dirty="0"/>
                  <a:t>Def. 8 </a:t>
                </a:r>
                <a:r>
                  <a:rPr lang="en-GB" sz="1800" dirty="0"/>
                  <a:t>If the outcome of an experiment is an element of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en-GB" sz="1800" b="1" dirty="0"/>
                  <a:t> </a:t>
                </a:r>
                <a:r>
                  <a:rPr lang="en-GB" sz="1800" dirty="0"/>
                  <a:t>we say that the event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en-GB" sz="1800" b="1" dirty="0"/>
                  <a:t> </a:t>
                </a:r>
                <a:r>
                  <a:rPr lang="en-GB" sz="1800" dirty="0"/>
                  <a:t>has </a:t>
                </a:r>
                <a:r>
                  <a:rPr lang="en-GB" sz="1800" b="1" dirty="0"/>
                  <a:t>occurred</a:t>
                </a:r>
                <a:r>
                  <a:rPr lang="en-GB" sz="1800" dirty="0"/>
                  <a:t>.  An event consisting of a single point, belonging to sample space, is called an </a:t>
                </a:r>
                <a:r>
                  <a:rPr lang="en-GB" sz="1800" b="1" dirty="0"/>
                  <a:t>elementary event</a:t>
                </a:r>
                <a:r>
                  <a:rPr lang="pl-PL" sz="1800" dirty="0"/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pl-PL" sz="1800" b="1" dirty="0"/>
                  <a:t>Ex</a:t>
                </a:r>
                <a:r>
                  <a:rPr lang="en-GB" sz="1800" b="1" dirty="0"/>
                  <a:t>. 3 </a:t>
                </a:r>
                <a:r>
                  <a:rPr lang="en-GB" sz="1800" dirty="0"/>
                  <a:t>We can use the sample space from ex. 2 to define an event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en-GB" sz="1800" dirty="0"/>
                  <a:t>: ‚only one head comes up’.</a:t>
                </a:r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0248" y="1840324"/>
                <a:ext cx="8734304" cy="5236582"/>
              </a:xfrm>
              <a:blipFill>
                <a:blip r:embed="rId2"/>
                <a:stretch>
                  <a:fillRect l="-488" t="-698" r="-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grpSp>
        <p:nvGrpSpPr>
          <p:cNvPr id="10" name="Grupa 9">
            <a:extLst>
              <a:ext uri="{FF2B5EF4-FFF2-40B4-BE49-F238E27FC236}">
                <a16:creationId xmlns:a16="http://schemas.microsoft.com/office/drawing/2014/main" id="{9206565A-220F-AF5F-9D29-FD99EBA3D5F0}"/>
              </a:ext>
            </a:extLst>
          </p:cNvPr>
          <p:cNvGrpSpPr/>
          <p:nvPr/>
        </p:nvGrpSpPr>
        <p:grpSpPr>
          <a:xfrm>
            <a:off x="5610519" y="4488453"/>
            <a:ext cx="2593762" cy="2039490"/>
            <a:chOff x="5511439" y="4241556"/>
            <a:chExt cx="2593762" cy="2039490"/>
          </a:xfrm>
        </p:grpSpPr>
        <p:pic>
          <p:nvPicPr>
            <p:cNvPr id="6" name="Obraz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11439" y="4570338"/>
              <a:ext cx="2078038" cy="1710708"/>
            </a:xfrm>
            <a:prstGeom prst="rect">
              <a:avLst/>
            </a:prstGeom>
          </p:spPr>
        </p:pic>
        <p:sp>
          <p:nvSpPr>
            <p:cNvPr id="7" name="Dowolny kształt 6"/>
            <p:cNvSpPr/>
            <p:nvPr/>
          </p:nvSpPr>
          <p:spPr>
            <a:xfrm>
              <a:off x="7073753" y="4241556"/>
              <a:ext cx="1031448" cy="1348817"/>
            </a:xfrm>
            <a:custGeom>
              <a:avLst/>
              <a:gdLst>
                <a:gd name="connsiteX0" fmla="*/ 3175907 w 3175907"/>
                <a:gd name="connsiteY0" fmla="*/ 0 h 1314450"/>
                <a:gd name="connsiteX1" fmla="*/ 1232807 w 3175907"/>
                <a:gd name="connsiteY1" fmla="*/ 253093 h 1314450"/>
                <a:gd name="connsiteX2" fmla="*/ 1257300 w 3175907"/>
                <a:gd name="connsiteY2" fmla="*/ 751114 h 1314450"/>
                <a:gd name="connsiteX3" fmla="*/ 0 w 3175907"/>
                <a:gd name="connsiteY3" fmla="*/ 1314450 h 13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907" h="1314450">
                  <a:moveTo>
                    <a:pt x="3175907" y="0"/>
                  </a:moveTo>
                  <a:cubicBezTo>
                    <a:pt x="2364241" y="63953"/>
                    <a:pt x="1552575" y="127907"/>
                    <a:pt x="1232807" y="253093"/>
                  </a:cubicBezTo>
                  <a:cubicBezTo>
                    <a:pt x="913039" y="378279"/>
                    <a:pt x="1462768" y="574221"/>
                    <a:pt x="1257300" y="751114"/>
                  </a:cubicBezTo>
                  <a:cubicBezTo>
                    <a:pt x="1051832" y="928007"/>
                    <a:pt x="525916" y="1121228"/>
                    <a:pt x="0" y="1314450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645"/>
            </a:p>
          </p:txBody>
        </p:sp>
      </p:grp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6FEBD16-B796-0079-EABC-A0550853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:a16="http://schemas.microsoft.com/office/drawing/2014/main" id="{0132F8A5-0A78-4A10-82C5-BE387E53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11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640255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Events</a:t>
            </a:r>
            <a:r>
              <a:rPr lang="pl-PL" dirty="0"/>
              <a:t> (II)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1964184" y="1918490"/>
                <a:ext cx="10225136" cy="559819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pl-PL" sz="1800" b="1" dirty="0"/>
                  <a:t>Def. 9 </a:t>
                </a:r>
                <a:r>
                  <a:rPr lang="en-GB" sz="1800" dirty="0"/>
                  <a:t>We call the sample space the </a:t>
                </a:r>
                <a:r>
                  <a:rPr lang="en-GB" sz="1800" b="1" dirty="0"/>
                  <a:t>certain event</a:t>
                </a:r>
                <a:r>
                  <a:rPr lang="en-GB" sz="1800" dirty="0"/>
                  <a:t>, since an element that belongs t</a:t>
                </a:r>
                <a:r>
                  <a:rPr lang="pl-PL" sz="1800" dirty="0"/>
                  <a:t>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l-PL" sz="1800" b="1" dirty="0"/>
                  <a:t> </a:t>
                </a:r>
                <a:r>
                  <a:rPr lang="en-GB" sz="1800" dirty="0"/>
                  <a:t>must occur in our experiment</a:t>
                </a:r>
                <a:r>
                  <a:rPr lang="pl-PL" sz="18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l-PL" sz="1800" b="1" dirty="0"/>
                  <a:t>Def. 10 </a:t>
                </a:r>
                <a:r>
                  <a:rPr lang="pl-PL" sz="1800" dirty="0"/>
                  <a:t>By </a:t>
                </a:r>
                <a:r>
                  <a:rPr lang="en-GB" sz="1800" dirty="0"/>
                  <a:t>analogy, an empty set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sz="1800" dirty="0"/>
                  <a:t>, is called the </a:t>
                </a:r>
                <a:r>
                  <a:rPr lang="en-GB" sz="1800" b="1" dirty="0"/>
                  <a:t>impossible event</a:t>
                </a:r>
                <a:r>
                  <a:rPr lang="en-GB" sz="1800" dirty="0"/>
                  <a:t>.</a:t>
                </a:r>
              </a:p>
              <a:p>
                <a:pPr marL="503238" lvl="1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800" dirty="0"/>
                  <a:t>So, using set operations on events we can obtains other events</a:t>
                </a:r>
                <a:r>
                  <a:rPr lang="pl-PL" sz="1800" dirty="0"/>
                  <a:t>!</a:t>
                </a:r>
              </a:p>
              <a:p>
                <a:pPr lvl="2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pl-PL" sz="1800" dirty="0"/>
                  <a:t>The </a:t>
                </a:r>
                <a:r>
                  <a:rPr lang="pl-PL" sz="1800" b="1" dirty="0" err="1"/>
                  <a:t>union</a:t>
                </a:r>
                <a:r>
                  <a:rPr lang="pl-PL" sz="1800" dirty="0"/>
                  <a:t>, </a:t>
                </a:r>
                <a14:m>
                  <m:oMath xmlns:m="http://schemas.openxmlformats.org/officeDocument/2006/math">
                    <m:r>
                      <a:rPr lang="pl-PL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pl-PL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800" dirty="0"/>
                  <a:t>, of </a:t>
                </a:r>
                <a14:m>
                  <m:oMath xmlns:m="http://schemas.openxmlformats.org/officeDocument/2006/math">
                    <m:r>
                      <a:rPr lang="pl-PL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 and </a:t>
                </a:r>
                <a14:m>
                  <m:oMath xmlns:m="http://schemas.openxmlformats.org/officeDocument/2006/math">
                    <m:r>
                      <a:rPr lang="pl-PL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means</a:t>
                </a:r>
                <a:r>
                  <a:rPr lang="pl-PL" sz="1800" dirty="0"/>
                  <a:t> „</a:t>
                </a:r>
                <a:r>
                  <a:rPr lang="pl-PL" sz="1800" dirty="0" err="1"/>
                  <a:t>either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 or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or</a:t>
                </a:r>
                <a:r>
                  <a:rPr lang="pl-PL" sz="1800" dirty="0"/>
                  <a:t> </a:t>
                </a:r>
                <a:r>
                  <a:rPr lang="pl-PL" sz="1800" dirty="0" err="1"/>
                  <a:t>both</a:t>
                </a:r>
                <a:r>
                  <a:rPr lang="pl-PL" sz="1800" dirty="0"/>
                  <a:t>”</a:t>
                </a:r>
              </a:p>
              <a:p>
                <a:pPr lvl="2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pl-PL" sz="1800" dirty="0"/>
                  <a:t>The </a:t>
                </a:r>
                <a:r>
                  <a:rPr lang="pl-PL" sz="1800" b="1" dirty="0" err="1"/>
                  <a:t>intersection</a:t>
                </a:r>
                <a:r>
                  <a:rPr lang="pl-PL" sz="1800" dirty="0"/>
                  <a:t>,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800" dirty="0"/>
                  <a:t>, of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 and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means</a:t>
                </a:r>
                <a:r>
                  <a:rPr lang="pl-PL" sz="1800" dirty="0"/>
                  <a:t> „</a:t>
                </a:r>
                <a:r>
                  <a:rPr lang="pl-PL" sz="1800" dirty="0" err="1"/>
                  <a:t>both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 and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800" dirty="0"/>
                  <a:t>”</a:t>
                </a:r>
              </a:p>
              <a:p>
                <a:pPr lvl="2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pl-PL" sz="1800" dirty="0"/>
                  <a:t>The </a:t>
                </a:r>
                <a:r>
                  <a:rPr lang="pl-PL" sz="1800" b="1" dirty="0" err="1"/>
                  <a:t>complement</a:t>
                </a:r>
                <a:r>
                  <a:rPr lang="pl-PL" sz="1800" b="1" dirty="0"/>
                  <a:t>,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pl-PL" sz="1800" dirty="0"/>
                  <a:t>, </a:t>
                </a:r>
                <a:r>
                  <a:rPr lang="pl-PL" sz="1800" dirty="0" err="1"/>
                  <a:t>means</a:t>
                </a:r>
                <a:r>
                  <a:rPr lang="pl-PL" sz="1800" dirty="0"/>
                  <a:t> „not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”</a:t>
                </a:r>
              </a:p>
              <a:p>
                <a:pPr marL="1008063" lvl="2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pl-PL" sz="1800" dirty="0"/>
                  <a:t>Event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pl-PL" sz="1800" dirty="0"/>
                  <a:t>, </a:t>
                </a:r>
                <a:r>
                  <a:rPr lang="pl-PL" sz="1800" dirty="0" err="1"/>
                  <a:t>means</a:t>
                </a:r>
                <a:r>
                  <a:rPr lang="pl-PL" sz="1800" dirty="0"/>
                  <a:t> „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 but not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800" dirty="0"/>
                  <a:t>”. </a:t>
                </a:r>
                <a:r>
                  <a:rPr lang="en-US" sz="1800" dirty="0"/>
                  <a:t>   </a:t>
                </a:r>
                <a:r>
                  <a:rPr lang="pl-PL" sz="1800" dirty="0"/>
                  <a:t>We have in particular,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p>
                        <m:r>
                          <a:rPr lang="pl-PL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pl-P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endParaRPr lang="pl-PL" sz="1800" dirty="0"/>
              </a:p>
            </p:txBody>
          </p:sp>
        </mc:Choice>
        <mc:Fallback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4184" y="1918490"/>
                <a:ext cx="10225136" cy="5598192"/>
              </a:xfrm>
              <a:blipFill>
                <a:blip r:embed="rId2"/>
                <a:stretch>
                  <a:fillRect l="-358" t="-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6F2175E-C79A-BFA8-0550-EFED0DC7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C653985-E65F-409A-2EEA-139EB658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12</a:t>
            </a:fld>
            <a:endParaRPr lang="en-US" altLang="pl-P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0ED788-423B-46E0-9211-3C811F7EFD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688" t="44714" r="18828" b="7544"/>
          <a:stretch>
            <a:fillRect/>
          </a:stretch>
        </p:blipFill>
        <p:spPr>
          <a:xfrm>
            <a:off x="7437399" y="5328029"/>
            <a:ext cx="2737669" cy="1750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33C8A8-A915-9334-8324-78E709DDA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032" y="2309774"/>
            <a:ext cx="3022600" cy="2264032"/>
          </a:xfrm>
          <a:prstGeom prst="rect">
            <a:avLst/>
          </a:prstGeom>
        </p:spPr>
      </p:pic>
      <p:pic>
        <p:nvPicPr>
          <p:cNvPr id="1026" name="Picture 2" descr="Intersection of Sets - Formula ...">
            <a:extLst>
              <a:ext uri="{FF2B5EF4-FFF2-40B4-BE49-F238E27FC236}">
                <a16:creationId xmlns:a16="http://schemas.microsoft.com/office/drawing/2014/main" id="{472713C2-815C-73D5-651F-26ABC51A0A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9" t="16693" r="23201"/>
          <a:stretch>
            <a:fillRect/>
          </a:stretch>
        </p:blipFill>
        <p:spPr bwMode="auto">
          <a:xfrm>
            <a:off x="4449763" y="5255030"/>
            <a:ext cx="2341564" cy="187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839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7B341-A45C-2F24-873D-B962A81F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Sets and examples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75469-653C-D138-7A3E-4ECAD65006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6112" y="2698130"/>
                <a:ext cx="11585575" cy="232814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Prove the following distributive law: </a:t>
                </a:r>
                <a:br>
                  <a:rPr lang="en-US" b="0" dirty="0">
                    <a:latin typeface="Cambria Math" panose="02040503050406030204" pitchFamily="18" charset="0"/>
                  </a:rPr>
                </a:br>
                <a:r>
                  <a:rPr lang="en-US" b="0" dirty="0">
                    <a:latin typeface="Cambria Math" panose="02040503050406030204" pitchFamily="18" charset="0"/>
                  </a:rPr>
                  <a:t>Let A, B, and C be subsets of a Universal set U. </a:t>
                </a:r>
              </a:p>
              <a:p>
                <a:pPr marL="0" indent="0">
                  <a:buNone/>
                </a:pPr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b="0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1) 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GB" b="0" i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d>
                              <m:dPr>
                                <m:ctrlPr>
                                  <a:rPr lang="en-GB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GB" b="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  <m:r>
                              <a:rPr lang="en-GB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GB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GB" b="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  <m:r>
                              <a:rPr lang="en-GB" b="0" i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d>
                              <m:dPr>
                                <m:ctrlPr>
                                  <a:rPr lang="en-GB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GB" b="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  <m:r>
                              <a:rPr lang="en-GB" b="0" i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2) </m:t>
                      </m:r>
                      <m:d>
                        <m:dPr>
                          <m:ctrlPr>
                            <a:rPr lang="en-GB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0" dirty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i="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i="0" dirty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75469-653C-D138-7A3E-4ECAD65006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6112" y="2698130"/>
                <a:ext cx="11585575" cy="2328144"/>
              </a:xfrm>
              <a:blipFill>
                <a:blip r:embed="rId2"/>
                <a:stretch>
                  <a:fillRect l="-1263" t="-5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9DA6B-CA4B-8D45-5714-89708BD5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4AB21-1932-F1C1-4727-DD89CEB9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13</a:t>
            </a:fld>
            <a:endParaRPr lang="en-US" altLang="pl-P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CD53C-06CB-B1F8-6C08-DED79F208989}"/>
              </a:ext>
            </a:extLst>
          </p:cNvPr>
          <p:cNvSpPr txBox="1"/>
          <p:nvPr/>
        </p:nvSpPr>
        <p:spPr>
          <a:xfrm>
            <a:off x="10597431" y="4786362"/>
            <a:ext cx="2304256" cy="156966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 = {1,2,3,4,5}</a:t>
            </a:r>
          </a:p>
          <a:p>
            <a:r>
              <a:rPr lang="en-US" dirty="0"/>
              <a:t>A = {1,2}</a:t>
            </a:r>
          </a:p>
          <a:p>
            <a:r>
              <a:rPr lang="en-US" dirty="0"/>
              <a:t>B = {2,3}</a:t>
            </a:r>
          </a:p>
          <a:p>
            <a:r>
              <a:rPr lang="en-US" dirty="0"/>
              <a:t>C = {1,2,5}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094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AF1E-140B-6870-48FF-6CF28D6CF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Events (III)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B2245C-BD0B-36E6-AD0A-7234F1A0C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pl-PL" sz="3200" b="1" dirty="0"/>
                  <a:t>Def. 11 </a:t>
                </a:r>
                <a:r>
                  <a:rPr lang="pl-PL" sz="3200" dirty="0" err="1"/>
                  <a:t>If</a:t>
                </a:r>
                <a:r>
                  <a:rPr lang="pl-PL" sz="3200" dirty="0"/>
                  <a:t> </a:t>
                </a:r>
                <a:r>
                  <a:rPr lang="en-GB" sz="3200" dirty="0"/>
                  <a:t>the sets corresponding to events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en-GB" sz="3200" dirty="0"/>
                  <a:t> and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en-GB" sz="3200" dirty="0"/>
                  <a:t> are </a:t>
                </a:r>
                <a:r>
                  <a:rPr lang="en-GB" sz="3200" b="1" dirty="0"/>
                  <a:t>disjoint</a:t>
                </a:r>
                <a:r>
                  <a:rPr lang="en-GB" sz="3200" dirty="0"/>
                  <a:t>,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sz="3200" dirty="0"/>
                  <a:t>, we say that the events are </a:t>
                </a:r>
                <a:r>
                  <a:rPr lang="en-GB" sz="3200" b="1" dirty="0"/>
                  <a:t>mutually exclusive</a:t>
                </a:r>
                <a:r>
                  <a:rPr lang="en-GB" sz="3200" dirty="0"/>
                  <a:t>. They cannot both occur at the same time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3200" b="1" dirty="0"/>
                  <a:t>Def. 1</a:t>
                </a:r>
                <a:r>
                  <a:rPr lang="pl-PL" sz="3200" b="1" dirty="0"/>
                  <a:t>2</a:t>
                </a:r>
                <a:r>
                  <a:rPr lang="en-GB" sz="3200" b="1" dirty="0"/>
                  <a:t> </a:t>
                </a:r>
                <a:r>
                  <a:rPr lang="en-GB" sz="3200" dirty="0"/>
                  <a:t>We say that a collection of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3200" dirty="0"/>
                  <a:t> is mutually exclusive if and only if every pair in the collection is </a:t>
                </a:r>
                <a:r>
                  <a:rPr lang="en-GB" sz="3200" dirty="0" err="1"/>
                  <a:t>mut</a:t>
                </a:r>
                <a:r>
                  <a:rPr lang="en-GB" sz="3200" dirty="0"/>
                  <a:t>. </a:t>
                </a:r>
                <a:r>
                  <a:rPr lang="en-GB" sz="3200" dirty="0" err="1"/>
                  <a:t>excl</a:t>
                </a:r>
                <a:r>
                  <a:rPr lang="pl-PL" sz="3200" dirty="0"/>
                  <a:t>.</a:t>
                </a:r>
                <a:endParaRPr lang="en-US" sz="320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B2245C-BD0B-36E6-AD0A-7234F1A0C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1" t="-1527" r="-1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C4709-C867-2A7B-EDF4-80FCB297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52CC8-FEA9-32A9-A1CD-337A63CE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14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75928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Events (I</a:t>
            </a:r>
            <a:r>
              <a:rPr lang="en-US" dirty="0"/>
              <a:t>V</a:t>
            </a:r>
            <a:r>
              <a:rPr lang="pl-PL" dirty="0"/>
              <a:t>)</a:t>
            </a:r>
            <a:endParaRPr lang="en-GB" dirty="0"/>
          </a:p>
        </p:txBody>
      </p:sp>
      <p:sp>
        <p:nvSpPr>
          <p:cNvPr id="5" name="Rectangle 2"/>
          <p:cNvSpPr>
            <a:spLocks noGrp="1"/>
          </p:cNvSpPr>
          <p:nvPr>
            <p:ph idx="1"/>
          </p:nvPr>
        </p:nvSpPr>
        <p:spPr>
          <a:xfrm>
            <a:off x="2743790" y="2410098"/>
            <a:ext cx="8254410" cy="103660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331"/>
              </a:spcBef>
              <a:buNone/>
            </a:pPr>
            <a:r>
              <a:rPr lang="pl-PL" sz="1800" b="1" dirty="0"/>
              <a:t>Ex. 4 </a:t>
            </a:r>
            <a:r>
              <a:rPr lang="en-GB" sz="1800" dirty="0"/>
              <a:t>Using further ex. </a:t>
            </a:r>
            <a:r>
              <a:rPr lang="pl-PL" sz="1800" dirty="0"/>
              <a:t>2</a:t>
            </a:r>
            <a:r>
              <a:rPr lang="en-GB" sz="1800" dirty="0"/>
              <a:t>, let’s use the set operations on the following events: „at least one head occurs” and „the second toss result is a tail”. Determine the outcome of all the operations listed</a:t>
            </a:r>
            <a:r>
              <a:rPr lang="pl-PL" sz="1800" dirty="0"/>
              <a:t>. </a:t>
            </a:r>
            <a:endParaRPr lang="en-US" sz="1800" dirty="0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pic>
        <p:nvPicPr>
          <p:cNvPr id="3" name="Obraz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23329">
            <a:off x="3114599" y="4241589"/>
            <a:ext cx="3140834" cy="1701286"/>
          </a:xfrm>
          <a:prstGeom prst="rect">
            <a:avLst/>
          </a:prstGeom>
        </p:spPr>
      </p:pic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8995476-703E-9391-5A95-1733001A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:a16="http://schemas.microsoft.com/office/drawing/2014/main" id="{EDDACEEE-562C-9DF5-3FA2-0877533B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15</a:t>
            </a:fld>
            <a:endParaRPr lang="en-US" altLang="pl-P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FFAA00-D71C-8172-653C-660188049191}"/>
                  </a:ext>
                </a:extLst>
              </p:cNvPr>
              <p:cNvSpPr txBox="1"/>
              <p:nvPr/>
            </p:nvSpPr>
            <p:spPr>
              <a:xfrm>
                <a:off x="7198936" y="3900525"/>
                <a:ext cx="4414320" cy="203132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1800" dirty="0"/>
                  <a:t>Are these sets mutually exclusive? </a:t>
                </a:r>
                <a:br>
                  <a:rPr lang="en-US" sz="1800" dirty="0"/>
                </a:br>
                <a:endParaRPr lang="en-US" sz="18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800" dirty="0"/>
                  <a:t>What is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18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GB" sz="18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/>
                  <a:t>What is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18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GB" sz="18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/>
                  <a:t>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p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GB" sz="1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FFAA00-D71C-8172-653C-66018804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936" y="3900525"/>
                <a:ext cx="4414320" cy="2031325"/>
              </a:xfrm>
              <a:prstGeom prst="rect">
                <a:avLst/>
              </a:prstGeom>
              <a:blipFill>
                <a:blip r:embed="rId4"/>
                <a:stretch>
                  <a:fillRect l="-822" t="-885" b="-295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153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Probability</a:t>
            </a:r>
            <a:r>
              <a:rPr lang="pl-PL" dirty="0"/>
              <a:t> (I)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612256" y="1951571"/>
                <a:ext cx="9000455" cy="523658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dirty="0"/>
                  <a:t>The main premise here is that we can assign to </a:t>
                </a:r>
                <a:r>
                  <a:rPr lang="en-GB" sz="1800" b="1" dirty="0"/>
                  <a:t>events numbers</a:t>
                </a:r>
                <a:r>
                  <a:rPr lang="en-GB" sz="1800" dirty="0"/>
                  <a:t> that can </a:t>
                </a:r>
                <a:r>
                  <a:rPr lang="en-GB" sz="1800" b="1" dirty="0"/>
                  <a:t>measure</a:t>
                </a:r>
                <a:r>
                  <a:rPr lang="en-GB" sz="1800" dirty="0"/>
                  <a:t> the probability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b="1" dirty="0"/>
                  <a:t>Def. 13 </a:t>
                </a:r>
                <a:r>
                  <a:rPr lang="en-GB" sz="1800" dirty="0"/>
                  <a:t>If an event can occur in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800" dirty="0"/>
                  <a:t> different ways out of a total </a:t>
                </a:r>
                <a:r>
                  <a:rPr lang="en-GB" sz="1800" dirty="0" err="1"/>
                  <a:t>num</a:t>
                </a:r>
                <a:r>
                  <a:rPr lang="pl-PL" sz="1800" dirty="0"/>
                  <a:t>b</a:t>
                </a:r>
                <a:r>
                  <a:rPr lang="en-GB" sz="1800" dirty="0" err="1"/>
                  <a:t>er</a:t>
                </a:r>
                <a:r>
                  <a:rPr lang="en-GB" sz="1800" dirty="0"/>
                  <a:t> of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800" dirty="0"/>
                  <a:t> possible ways, all of which are </a:t>
                </a:r>
                <a:r>
                  <a:rPr lang="en-GB" sz="1800" b="1" dirty="0"/>
                  <a:t>equally likely</a:t>
                </a:r>
                <a:r>
                  <a:rPr lang="en-GB" sz="1800" dirty="0"/>
                  <a:t>, then the probability of the event equals to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sz="1800" dirty="0"/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b="1" dirty="0"/>
                  <a:t>Ex. 5 </a:t>
                </a:r>
                <a:r>
                  <a:rPr lang="en-GB" sz="1800" dirty="0"/>
                  <a:t>In the case of a </a:t>
                </a:r>
                <a:r>
                  <a:rPr lang="en-GB" sz="1800" b="1" dirty="0"/>
                  <a:t>fair coin </a:t>
                </a:r>
                <a:r>
                  <a:rPr lang="en-GB" sz="1800" dirty="0"/>
                  <a:t>toss we have </a:t>
                </a:r>
                <a:r>
                  <a:rPr lang="en-GB" sz="1800" b="1" dirty="0"/>
                  <a:t>two equally </a:t>
                </a:r>
                <a:r>
                  <a:rPr lang="en-GB" sz="1800" dirty="0"/>
                  <a:t>likely events, so it seems reasonable to assign them probability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r>
                  <a:rPr lang="en-GB" sz="1800" dirty="0"/>
                  <a:t>. If in an experiment </a:t>
                </a:r>
                <a:r>
                  <a:rPr lang="en-GB" sz="1800" b="1" dirty="0"/>
                  <a:t>we measure a bias </a:t>
                </a:r>
                <a:r>
                  <a:rPr lang="en-GB" sz="1800" dirty="0"/>
                  <a:t>in the </a:t>
                </a:r>
                <a:r>
                  <a:rPr lang="en-GB" sz="1800" dirty="0" err="1"/>
                  <a:t>num</a:t>
                </a:r>
                <a:r>
                  <a:rPr lang="pl-PL" sz="1800" dirty="0"/>
                  <a:t>b</a:t>
                </a:r>
                <a:r>
                  <a:rPr lang="en-GB" sz="1800" dirty="0" err="1"/>
                  <a:t>er</a:t>
                </a:r>
                <a:r>
                  <a:rPr lang="en-GB" sz="1800" dirty="0"/>
                  <a:t> of heads or tails we will call the </a:t>
                </a:r>
                <a:r>
                  <a:rPr lang="en-GB" sz="1800" b="1" dirty="0"/>
                  <a:t>coin loaded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b="1" dirty="0"/>
                  <a:t>Def. 14 </a:t>
                </a:r>
                <a:r>
                  <a:rPr lang="en-GB" sz="1800" dirty="0"/>
                  <a:t>If after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800" dirty="0"/>
                  <a:t> repetitions of an experiment, where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800" dirty="0"/>
                  <a:t> </a:t>
                </a:r>
                <a:r>
                  <a:rPr lang="en-GB" sz="1800" b="1" dirty="0"/>
                  <a:t>should be large</a:t>
                </a:r>
                <a:r>
                  <a:rPr lang="en-GB" sz="1800" dirty="0"/>
                  <a:t>, a particular event is observed to occur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800" dirty="0"/>
                  <a:t> </a:t>
                </a:r>
                <a:r>
                  <a:rPr lang="pl-PL" sz="1800" dirty="0"/>
                  <a:t>t</a:t>
                </a:r>
                <a:r>
                  <a:rPr lang="en-GB" sz="1800" dirty="0"/>
                  <a:t>imes, then the probability of the event is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sz="1800" dirty="0"/>
              </a:p>
            </p:txBody>
          </p:sp>
        </mc:Choice>
        <mc:Fallback xmlns="">
          <p:sp>
            <p:nvSpPr>
              <p:cNvPr id="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256" y="1951571"/>
                <a:ext cx="9000455" cy="5236582"/>
              </a:xfrm>
              <a:blipFill>
                <a:blip r:embed="rId2"/>
                <a:stretch>
                  <a:fillRect l="-474" r="-8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645CDEA-02BB-4527-A15B-F4C49E61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12A3791-B936-23CF-B6CD-8BAC6763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16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171593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Probability</a:t>
            </a:r>
            <a:r>
              <a:rPr lang="pl-PL" dirty="0"/>
              <a:t> (II)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828280" y="1636012"/>
                <a:ext cx="8712967" cy="523658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The</a:t>
                </a:r>
                <a:r>
                  <a:rPr lang="pl-PL" sz="1800" dirty="0"/>
                  <a:t>re </a:t>
                </a:r>
                <a:r>
                  <a:rPr lang="pl-PL" sz="1800" dirty="0" err="1"/>
                  <a:t>are</a:t>
                </a:r>
                <a:r>
                  <a:rPr lang="pl-PL" sz="1800" dirty="0"/>
                  <a:t> </a:t>
                </a:r>
                <a:r>
                  <a:rPr lang="pl-PL" sz="1800" dirty="0" err="1"/>
                  <a:t>some</a:t>
                </a:r>
                <a:r>
                  <a:rPr lang="pl-PL" sz="1800" dirty="0"/>
                  <a:t> </a:t>
                </a:r>
                <a:r>
                  <a:rPr lang="pl-PL" sz="1800" dirty="0" err="1"/>
                  <a:t>serious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troubles</a:t>
                </a:r>
                <a:r>
                  <a:rPr lang="pl-PL" sz="1800" dirty="0"/>
                  <a:t> with </a:t>
                </a:r>
                <a:r>
                  <a:rPr lang="pl-PL" sz="1800" dirty="0" err="1"/>
                  <a:t>both</a:t>
                </a:r>
                <a:r>
                  <a:rPr lang="pl-PL" sz="1800" dirty="0"/>
                  <a:t> </a:t>
                </a:r>
                <a:r>
                  <a:rPr lang="pl-PL" sz="1800" dirty="0" err="1"/>
                  <a:t>definitions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given</a:t>
                </a:r>
                <a:r>
                  <a:rPr lang="pl-PL" sz="1800" dirty="0"/>
                  <a:t> in the </a:t>
                </a:r>
                <a:r>
                  <a:rPr lang="pl-PL" sz="1800" dirty="0" err="1"/>
                  <a:t>previous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slide</a:t>
                </a:r>
                <a:r>
                  <a:rPr lang="pl-PL" sz="1800" dirty="0"/>
                  <a:t>…</a:t>
                </a:r>
              </a:p>
              <a:p>
                <a:pPr marL="503238" lvl="1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800" dirty="0"/>
                  <a:t>How can we tell if events are </a:t>
                </a:r>
                <a:r>
                  <a:rPr lang="en-GB" sz="1800" b="1" dirty="0"/>
                  <a:t>equally likely</a:t>
                </a:r>
                <a:r>
                  <a:rPr lang="en-GB" sz="1800" dirty="0"/>
                  <a:t>?</a:t>
                </a:r>
              </a:p>
              <a:p>
                <a:pPr marL="503238" lvl="1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800" dirty="0"/>
                  <a:t>What does it mean that a sample should be </a:t>
                </a:r>
                <a:r>
                  <a:rPr lang="en-GB" sz="1800" b="1" dirty="0"/>
                  <a:t>large</a:t>
                </a:r>
                <a:r>
                  <a:rPr lang="pl-PL" sz="1800" dirty="0"/>
                  <a:t>?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1800" dirty="0"/>
                  <a:t>These issues are „cured” by the </a:t>
                </a:r>
                <a:r>
                  <a:rPr lang="en-GB" sz="1800" b="1" dirty="0"/>
                  <a:t>axiomatic</a:t>
                </a:r>
                <a:r>
                  <a:rPr lang="en-GB" sz="1800" dirty="0"/>
                  <a:t> approach to the  probability. The core element in the axiomatic definition is a notion of a probability function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</m:d>
                  </m:oMath>
                </a14:m>
                <a:r>
                  <a:rPr lang="en-GB" sz="1800" dirty="0"/>
                  <a:t>, which gives a number related with each event</a:t>
                </a:r>
                <a:r>
                  <a:rPr lang="pl-PL" sz="1800" dirty="0"/>
                  <a:t>.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pl-PL" sz="1800" b="1" dirty="0" err="1"/>
                  <a:t>Axiom</a:t>
                </a:r>
                <a:r>
                  <a:rPr lang="pl-PL" sz="1800" b="1" dirty="0"/>
                  <a:t> 1</a:t>
                </a:r>
                <a:r>
                  <a:rPr lang="pl-PL" sz="1800" dirty="0"/>
                  <a:t> For </a:t>
                </a:r>
                <a:r>
                  <a:rPr lang="pl-PL" sz="1800" dirty="0" err="1"/>
                  <a:t>every</a:t>
                </a:r>
                <a:r>
                  <a:rPr lang="pl-PL" sz="1800" dirty="0"/>
                  <a:t> event: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pl-PL" sz="1800" dirty="0"/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pl-PL" sz="1800" b="1" dirty="0" err="1"/>
                  <a:t>Axiom</a:t>
                </a:r>
                <a:r>
                  <a:rPr lang="pl-PL" sz="1800" b="1" dirty="0"/>
                  <a:t> 2</a:t>
                </a:r>
                <a:r>
                  <a:rPr lang="pl-PL" sz="1800" dirty="0"/>
                  <a:t> For the </a:t>
                </a:r>
                <a:r>
                  <a:rPr lang="pl-PL" sz="1800" dirty="0" err="1"/>
                  <a:t>certain</a:t>
                </a:r>
                <a:r>
                  <a:rPr lang="pl-PL" sz="1800" dirty="0"/>
                  <a:t> event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pl-PL" sz="1800" dirty="0"/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pl-PL" sz="1800" b="1" dirty="0" err="1"/>
                  <a:t>Axiom</a:t>
                </a:r>
                <a:r>
                  <a:rPr lang="pl-PL" sz="1800" b="1" dirty="0"/>
                  <a:t> 3</a:t>
                </a:r>
                <a:r>
                  <a:rPr lang="pl-PL" sz="1800" dirty="0"/>
                  <a:t> For </a:t>
                </a:r>
                <a:r>
                  <a:rPr lang="pl-PL" sz="1800" dirty="0" err="1"/>
                  <a:t>any</a:t>
                </a:r>
                <a:r>
                  <a:rPr lang="pl-PL" sz="1800" dirty="0"/>
                  <a:t> </a:t>
                </a:r>
                <a:r>
                  <a:rPr lang="pl-PL" sz="1800" dirty="0" err="1"/>
                  <a:t>number</a:t>
                </a:r>
                <a:r>
                  <a:rPr lang="pl-PL" sz="1800" dirty="0"/>
                  <a:t> of </a:t>
                </a:r>
                <a:r>
                  <a:rPr lang="pl-PL" sz="1800" dirty="0" err="1"/>
                  <a:t>mutually</a:t>
                </a:r>
                <a:r>
                  <a:rPr lang="pl-PL" sz="1800" dirty="0"/>
                  <a:t> </a:t>
                </a:r>
                <a:r>
                  <a:rPr lang="pl-PL" sz="1800" dirty="0" err="1"/>
                  <a:t>exclusive</a:t>
                </a:r>
                <a:r>
                  <a:rPr lang="pl-PL" sz="1800" dirty="0"/>
                  <a:t> </a:t>
                </a:r>
                <a:r>
                  <a:rPr lang="pl-PL" sz="1800" dirty="0" err="1"/>
                  <a:t>events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pl-PL" sz="1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pl-PL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l-PL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pl-PL" sz="1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pl-PL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</a:rPr>
                      <m:t>+…+</m:t>
                    </m:r>
                    <m:r>
                      <a:rPr lang="pl-PL" sz="1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pl-PL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  <a:buFont typeface="Wingdings" panose="05000000000000000000" pitchFamily="2" charset="2"/>
                  <a:buChar char="q"/>
                </a:pPr>
                <a:endParaRPr lang="en-GB" sz="2204" dirty="0"/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28280" y="1636012"/>
                <a:ext cx="8712967" cy="5236582"/>
              </a:xfrm>
              <a:blipFill>
                <a:blip r:embed="rId2"/>
                <a:stretch>
                  <a:fillRect l="-490" r="-9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3" name="Dowolny kształt 2"/>
          <p:cNvSpPr/>
          <p:nvPr/>
        </p:nvSpPr>
        <p:spPr>
          <a:xfrm>
            <a:off x="2391662" y="4138290"/>
            <a:ext cx="9027213" cy="2314206"/>
          </a:xfrm>
          <a:custGeom>
            <a:avLst/>
            <a:gdLst>
              <a:gd name="connsiteX0" fmla="*/ 3112949 w 7343192"/>
              <a:gd name="connsiteY0" fmla="*/ 118432 h 2100288"/>
              <a:gd name="connsiteX1" fmla="*/ 350895 w 7343192"/>
              <a:gd name="connsiteY1" fmla="*/ 240980 h 2100288"/>
              <a:gd name="connsiteX2" fmla="*/ 746821 w 7343192"/>
              <a:gd name="connsiteY2" fmla="*/ 1843537 h 2100288"/>
              <a:gd name="connsiteX3" fmla="*/ 6751695 w 7343192"/>
              <a:gd name="connsiteY3" fmla="*/ 1928378 h 2100288"/>
              <a:gd name="connsiteX4" fmla="*/ 6506598 w 7343192"/>
              <a:gd name="connsiteY4" fmla="*/ 174992 h 2100288"/>
              <a:gd name="connsiteX5" fmla="*/ 1321856 w 7343192"/>
              <a:gd name="connsiteY5" fmla="*/ 156139 h 210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43192" h="2100288">
                <a:moveTo>
                  <a:pt x="3112949" y="118432"/>
                </a:moveTo>
                <a:cubicBezTo>
                  <a:pt x="1929099" y="35947"/>
                  <a:pt x="745250" y="-46538"/>
                  <a:pt x="350895" y="240980"/>
                </a:cubicBezTo>
                <a:cubicBezTo>
                  <a:pt x="-43460" y="528498"/>
                  <a:pt x="-319979" y="1562304"/>
                  <a:pt x="746821" y="1843537"/>
                </a:cubicBezTo>
                <a:cubicBezTo>
                  <a:pt x="1813621" y="2124770"/>
                  <a:pt x="5791732" y="2206469"/>
                  <a:pt x="6751695" y="1928378"/>
                </a:cubicBezTo>
                <a:cubicBezTo>
                  <a:pt x="7711658" y="1650287"/>
                  <a:pt x="7411571" y="470365"/>
                  <a:pt x="6506598" y="174992"/>
                </a:cubicBezTo>
                <a:cubicBezTo>
                  <a:pt x="5601625" y="-120381"/>
                  <a:pt x="3461740" y="17879"/>
                  <a:pt x="1321856" y="156139"/>
                </a:cubicBez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645">
              <a:solidFill>
                <a:srgbClr val="006600"/>
              </a:solidFill>
            </a:endParaRP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0E4B6E3-CD34-8562-D309-3BC2834C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:a16="http://schemas.microsoft.com/office/drawing/2014/main" id="{AE3600F9-F6A8-3282-3F45-27784BBA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17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95419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Probability</a:t>
            </a:r>
            <a:r>
              <a:rPr lang="pl-PL" dirty="0"/>
              <a:t> (III)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3116312" y="1968287"/>
                <a:ext cx="9198422" cy="5236582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b="1" dirty="0"/>
                  <a:t>Theorem 1</a:t>
                </a:r>
                <a:r>
                  <a:rPr lang="pl-PL" sz="1800" dirty="0"/>
                  <a:t> </a:t>
                </a:r>
              </a:p>
              <a:p>
                <a:pPr marL="90682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dirty="0"/>
                  <a:t>     </a:t>
                </a:r>
                <a:r>
                  <a:rPr lang="pl-PL" sz="1800" dirty="0" err="1"/>
                  <a:t>If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1800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b="1" dirty="0" err="1"/>
                  <a:t>Theorem</a:t>
                </a:r>
                <a:r>
                  <a:rPr lang="pl-PL" sz="1800" b="1" dirty="0"/>
                  <a:t> 2</a:t>
                </a:r>
              </a:p>
              <a:p>
                <a:pPr marL="90682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dirty="0"/>
                  <a:t>     For </a:t>
                </a:r>
                <a:r>
                  <a:rPr lang="pl-PL" sz="1800" dirty="0" err="1"/>
                  <a:t>every</a:t>
                </a:r>
                <a:r>
                  <a:rPr lang="pl-PL" sz="1800" dirty="0"/>
                  <a:t> event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→0≤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)≤1</m:t>
                    </m:r>
                  </m:oMath>
                </a14:m>
                <a:endParaRPr lang="pl-PL" sz="1800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b="1" dirty="0" err="1"/>
                  <a:t>Theorem</a:t>
                </a:r>
                <a:r>
                  <a:rPr lang="pl-PL" sz="1800" b="1" dirty="0"/>
                  <a:t> 3</a:t>
                </a:r>
              </a:p>
              <a:p>
                <a:pPr marL="90682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dirty="0"/>
                  <a:t>     The </a:t>
                </a:r>
                <a:r>
                  <a:rPr lang="pl-PL" sz="1800" dirty="0" err="1"/>
                  <a:t>impossible</a:t>
                </a:r>
                <a:r>
                  <a:rPr lang="pl-PL" sz="1800" dirty="0"/>
                  <a:t> event </a:t>
                </a:r>
                <a:r>
                  <a:rPr lang="pl-PL" sz="1800" dirty="0" err="1"/>
                  <a:t>has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probability</a:t>
                </a:r>
                <a:r>
                  <a:rPr lang="pl-PL" sz="1800" dirty="0"/>
                  <a:t> zero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l-PL" sz="1800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b="1" dirty="0" err="1"/>
                  <a:t>Theorem</a:t>
                </a:r>
                <a:r>
                  <a:rPr lang="pl-PL" sz="1800" b="1" dirty="0"/>
                  <a:t> 4</a:t>
                </a:r>
                <a:r>
                  <a:rPr lang="pl-PL" sz="1800" dirty="0"/>
                  <a:t> </a:t>
                </a:r>
              </a:p>
              <a:p>
                <a:pPr marL="90682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dirty="0"/>
                  <a:t>     </a:t>
                </a:r>
                <a:r>
                  <a:rPr lang="pl-PL" sz="1800" dirty="0" err="1"/>
                  <a:t>If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 the </a:t>
                </a:r>
                <a:r>
                  <a:rPr lang="pl-PL" sz="1800" dirty="0" err="1"/>
                  <a:t>complement</a:t>
                </a:r>
                <a:r>
                  <a:rPr lang="pl-PL" sz="1800" dirty="0"/>
                  <a:t> of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, </a:t>
                </a:r>
                <a:r>
                  <a:rPr lang="pl-PL" sz="1800" dirty="0" err="1"/>
                  <a:t>then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1800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b="1" dirty="0" err="1"/>
                  <a:t>Theorem</a:t>
                </a:r>
                <a:r>
                  <a:rPr lang="pl-PL" sz="1800" b="1" dirty="0"/>
                  <a:t> 5</a:t>
                </a:r>
              </a:p>
              <a:p>
                <a:pPr marL="90682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dirty="0"/>
                  <a:t>     </a:t>
                </a:r>
                <a:r>
                  <a:rPr lang="pl-PL" sz="1800" dirty="0" err="1"/>
                  <a:t>If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are</a:t>
                </a:r>
                <a:r>
                  <a:rPr lang="pl-PL" sz="1800" dirty="0"/>
                  <a:t> </a:t>
                </a:r>
                <a:r>
                  <a:rPr lang="pl-PL" sz="1800" dirty="0" err="1"/>
                  <a:t>any</a:t>
                </a:r>
                <a:r>
                  <a:rPr lang="pl-PL" sz="1800" dirty="0"/>
                  <a:t> </a:t>
                </a:r>
                <a:r>
                  <a:rPr lang="pl-PL" sz="1800" dirty="0" err="1"/>
                  <a:t>two</a:t>
                </a:r>
                <a:r>
                  <a:rPr lang="pl-PL" sz="1800" dirty="0"/>
                  <a:t> </a:t>
                </a:r>
                <a:r>
                  <a:rPr lang="pl-PL" sz="1800" dirty="0" err="1"/>
                  <a:t>events</a:t>
                </a:r>
                <a:r>
                  <a:rPr lang="pl-PL" sz="1800" dirty="0"/>
                  <a:t>, </a:t>
                </a:r>
                <a:r>
                  <a:rPr lang="pl-PL" sz="1800" dirty="0" err="1"/>
                  <a:t>then</a:t>
                </a:r>
                <a:r>
                  <a:rPr lang="pl-PL" sz="1800" dirty="0"/>
                  <a:t> </a:t>
                </a:r>
              </a:p>
              <a:p>
                <a:pPr marL="90682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dirty="0"/>
                  <a:t>     </a:t>
                </a:r>
                <a14:m>
                  <m:oMath xmlns:m="http://schemas.openxmlformats.org/officeDocument/2006/math">
                    <m:r>
                      <a:rPr lang="pl-PL" sz="1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pl-PL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1800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b="1" dirty="0" err="1"/>
                  <a:t>Theorem</a:t>
                </a:r>
                <a:r>
                  <a:rPr lang="pl-PL" sz="1800" b="1" dirty="0"/>
                  <a:t> 6</a:t>
                </a:r>
              </a:p>
              <a:p>
                <a:pPr marL="90682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l-PL" sz="1800" dirty="0"/>
                  <a:t>     For </a:t>
                </a:r>
                <a:r>
                  <a:rPr lang="pl-PL" sz="1800" dirty="0" err="1"/>
                  <a:t>any</a:t>
                </a:r>
                <a:r>
                  <a:rPr lang="pl-PL" sz="1800" dirty="0"/>
                  <a:t> </a:t>
                </a:r>
                <a:r>
                  <a:rPr lang="pl-PL" sz="1800" dirty="0" err="1"/>
                  <a:t>events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</m:e>
                          <m:sub>
                            <m:r>
                              <a:rPr lang="pl-PL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l-P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800" dirty="0"/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6312" y="1968287"/>
                <a:ext cx="9198422" cy="5236582"/>
              </a:xfrm>
              <a:blipFill>
                <a:blip r:embed="rId2"/>
                <a:stretch>
                  <a:fillRect l="-530" t="-6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94C1465-3A46-5F5E-E041-E032B8200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68FC0A6-4C9B-D3B8-5B37-4DB39BAC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18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789156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Examples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157459" y="1721073"/>
                <a:ext cx="9118506" cy="5236582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pl-PL" sz="1800" b="1" dirty="0"/>
                  <a:t>Ex. 5 </a:t>
                </a:r>
                <a:r>
                  <a:rPr lang="pl-PL" sz="1800" dirty="0" err="1"/>
                  <a:t>Lottery</a:t>
                </a:r>
                <a:endParaRPr lang="pl-PL" sz="1800" dirty="0"/>
              </a:p>
              <a:p>
                <a:pPr marL="90682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pl-PL" sz="1800" b="1" dirty="0"/>
                  <a:t>    </a:t>
                </a:r>
                <a:r>
                  <a:rPr lang="en-GB" sz="1800" dirty="0"/>
                  <a:t>A container holds 49 balls, each with a </a:t>
                </a:r>
                <a:r>
                  <a:rPr lang="en-GB" sz="1800" dirty="0" err="1"/>
                  <a:t>num</a:t>
                </a:r>
                <a:r>
                  <a:rPr lang="pl-PL" sz="1800" dirty="0"/>
                  <a:t>b</a:t>
                </a:r>
                <a:r>
                  <a:rPr lang="en-GB" sz="1800" dirty="0" err="1"/>
                  <a:t>er</a:t>
                </a:r>
                <a:r>
                  <a:rPr lang="en-GB" sz="1800" dirty="0"/>
                  <a:t> 1 through 49. During the drawing six of them are taken out without replacement. What is the probability that a player has chosen exactly the same numbers?</a:t>
                </a:r>
              </a:p>
              <a:p>
                <a:pPr marL="90682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GB" sz="1800" b="1" dirty="0"/>
                  <a:t>     </a:t>
                </a:r>
                <a:r>
                  <a:rPr lang="en-GB" sz="1800" dirty="0"/>
                  <a:t>Say,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GB" sz="1800" b="1" dirty="0"/>
                  <a:t> </a:t>
                </a:r>
                <a:r>
                  <a:rPr lang="en-GB" sz="1800" dirty="0"/>
                  <a:t>is the probability to chose the first number and is equal: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lang="en-GB" sz="1800" dirty="0"/>
                  <a:t>, then the probability to chose by the player the second number is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lang="en-GB" sz="1800" dirty="0"/>
                  <a:t>… and so on. At the end we have</a:t>
                </a:r>
                <a:r>
                  <a:rPr lang="pl-PL" sz="1800" dirty="0"/>
                  <a:t>:</a:t>
                </a:r>
              </a:p>
              <a:p>
                <a:pPr marL="90682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pl-PL" sz="1800" dirty="0"/>
              </a:p>
              <a:p>
                <a:pPr marL="90682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GB" sz="1800" dirty="0"/>
                  <a:t>Now, the order is not important</a:t>
                </a:r>
                <a:r>
                  <a:rPr lang="pl-PL" sz="1800" dirty="0"/>
                  <a:t>!</a:t>
                </a:r>
              </a:p>
              <a:p>
                <a:pPr marL="90682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pl-PL" sz="1800" dirty="0"/>
              </a:p>
              <a:p>
                <a:pPr marL="90682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pl-PL" sz="1800" dirty="0"/>
              </a:p>
              <a:p>
                <a:pPr marL="90682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GB" sz="1800" dirty="0"/>
                  <a:t>Where,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bSup>
                  </m:oMath>
                </a14:m>
                <a:r>
                  <a:rPr lang="en-GB" sz="1800" dirty="0"/>
                  <a:t> is the number of combinations of 6 elements out of </a:t>
                </a:r>
                <a:r>
                  <a:rPr lang="pl-PL" sz="1800" dirty="0"/>
                  <a:t>49.</a:t>
                </a:r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  <a:buFont typeface="Wingdings" panose="05000000000000000000" pitchFamily="2" charset="2"/>
                  <a:buChar char="q"/>
                </a:pPr>
                <a:endParaRPr lang="en-GB" sz="2204" dirty="0"/>
              </a:p>
            </p:txBody>
          </p:sp>
        </mc:Choice>
        <mc:Fallback xmlns="">
          <p:sp>
            <p:nvSpPr>
              <p:cNvPr id="7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7459" y="1721073"/>
                <a:ext cx="9118506" cy="5236582"/>
              </a:xfrm>
              <a:blipFill>
                <a:blip r:embed="rId2"/>
                <a:stretch>
                  <a:fillRect l="-468" t="-1048" r="-10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raz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/>
              <p:cNvSpPr txBox="1"/>
              <p:nvPr/>
            </p:nvSpPr>
            <p:spPr>
              <a:xfrm>
                <a:off x="3980408" y="4079133"/>
                <a:ext cx="4294894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1,..,6</m:t>
                          </m:r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49</m:t>
                          </m:r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∙48∙47∙46∙45∙44</m:t>
                          </m:r>
                        </m:den>
                      </m:f>
                      <m:r>
                        <a:rPr lang="pl-PL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43!</m:t>
                          </m:r>
                        </m:num>
                        <m:den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49!</m:t>
                          </m:r>
                        </m:den>
                      </m:f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8" name="pole tekstow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408" y="4079133"/>
                <a:ext cx="4294894" cy="520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4834392" y="5336296"/>
                <a:ext cx="3060710" cy="763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𝑤𝑖𝑛</m:t>
                          </m:r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6!43!</m:t>
                          </m:r>
                        </m:num>
                        <m:den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49!</m:t>
                          </m:r>
                        </m:den>
                      </m:f>
                      <m:r>
                        <a:rPr lang="pl-PL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pl-PL" sz="18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pl-PL" sz="1800" i="1">
                                      <a:latin typeface="Cambria Math" panose="02040503050406030204" pitchFamily="18" charset="0"/>
                                    </a:rPr>
                                    <m:t>49</m:t>
                                  </m:r>
                                </m:e>
                                <m:e>
                                  <m:r>
                                    <a:rPr lang="pl-PL" sz="1800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eqArr>
                            </m:e>
                          </m:d>
                        </m:den>
                      </m:f>
                      <m:r>
                        <a:rPr lang="pl-PL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  <m:sup>
                              <m:r>
                                <a:rPr lang="pl-PL" sz="1800" i="1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392" y="5336296"/>
                <a:ext cx="3060710" cy="7632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6B02506E-BC2A-3C6E-CA3A-6C8B3AF6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6406A264-5544-0385-4902-FC3148D8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19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693167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Conditional</a:t>
            </a:r>
            <a:r>
              <a:rPr lang="pl-PL" dirty="0"/>
              <a:t> </a:t>
            </a:r>
            <a:r>
              <a:rPr lang="pl-PL" dirty="0" err="1"/>
              <a:t>probability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252216" y="1600912"/>
                <a:ext cx="9419047" cy="5553950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983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Conditional probability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i.e., probability is not absolute (subjective point of view may have a significant impact on a value you assign to an event!)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983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l-PL" sz="1983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Def.1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Let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98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98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two events and assume that </a:t>
                </a:r>
                <a14:m>
                  <m:oMath xmlns:m="http://schemas.openxmlformats.org/officeDocument/2006/math">
                    <m:r>
                      <a:rPr lang="pl-PL" sz="1983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983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983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</m:d>
                    <m:r>
                      <a:rPr lang="pl-PL" sz="1983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We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denote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1983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983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983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𝔹</m:t>
                        </m:r>
                        <m:r>
                          <a:rPr lang="pl-PL" sz="1983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GB" sz="1983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</m:d>
                  </m:oMath>
                </a14:m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probability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 event </a:t>
                </a:r>
                <a14:m>
                  <m:oMath xmlns:m="http://schemas.openxmlformats.org/officeDocument/2006/math">
                    <m:r>
                      <a:rPr lang="en-GB" sz="198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given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event </a:t>
                </a:r>
                <a14:m>
                  <m:oMath xmlns:m="http://schemas.openxmlformats.org/officeDocument/2006/math">
                    <m:r>
                      <a:rPr lang="en-GB" sz="198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Since we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know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98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has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occurred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it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becomes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new sample space instead 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 the </a:t>
                </a:r>
                <a:r>
                  <a:rPr lang="pl-PL" sz="1983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original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one </a:t>
                </a:r>
                <a:r>
                  <a:rPr lang="el-GR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Ω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Thus, we define the conditional probability as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983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983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983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983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983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983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By </a:t>
                </a:r>
                <a:r>
                  <a:rPr lang="en-GB" sz="1983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requiring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the occurrence 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 event </a:t>
                </a:r>
                <a14:m>
                  <m:oMath xmlns:m="http://schemas.openxmlformats.org/officeDocument/2006/math">
                    <m:r>
                      <a:rPr lang="en-GB" sz="198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make the </a:t>
                </a:r>
                <a:r>
                  <a:rPr lang="en-GB" sz="1983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event space 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</a:t>
                </a:r>
                <a:r>
                  <a:rPr lang="en-GB" sz="1983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collapse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original probabilities </a:t>
                </a:r>
                <a:r>
                  <a:rPr lang="en-GB" sz="1983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are redefined </a:t>
                </a:r>
                <a:r>
                  <a:rPr lang="en-GB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– we could say that values of probability that we assign </a:t>
                </a:r>
                <a:r>
                  <a:rPr lang="en-GB" sz="1983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depend on our knowledge</a:t>
                </a:r>
                <a:r>
                  <a:rPr lang="pl-PL" sz="1983" dirty="0">
                    <a:latin typeface="Calibri" panose="020F0502020204030204" pitchFamily="34" charset="0"/>
                    <a:cs typeface="Calibri" panose="020F0502020204030204" pitchFamily="34" charset="0"/>
                  </a:rPr>
                  <a:t>!</a:t>
                </a:r>
                <a:endParaRPr lang="en-US" sz="1983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2216" y="1600912"/>
                <a:ext cx="9419047" cy="5553950"/>
              </a:xfrm>
              <a:blipFill>
                <a:blip r:embed="rId2"/>
                <a:stretch>
                  <a:fillRect l="-388" t="-1098" r="-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/>
              <p:cNvSpPr txBox="1"/>
              <p:nvPr/>
            </p:nvSpPr>
            <p:spPr>
              <a:xfrm>
                <a:off x="3949531" y="3867411"/>
                <a:ext cx="3106791" cy="1018784"/>
              </a:xfrm>
              <a:prstGeom prst="rect">
                <a:avLst/>
              </a:prstGeom>
              <a:noFill/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79333" tIns="79333" rIns="79333" bIns="79333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645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64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  <m: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264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l-PL" sz="264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64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  <m:r>
                                <a:rPr lang="en-GB" sz="264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GB" sz="264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𝔹</m:t>
                              </m:r>
                            </m:e>
                          </m:d>
                        </m:num>
                        <m:den>
                          <m: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l-PL" sz="264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64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531" y="3867411"/>
                <a:ext cx="3106791" cy="10187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/>
              <p:cNvSpPr txBox="1"/>
              <p:nvPr/>
            </p:nvSpPr>
            <p:spPr>
              <a:xfrm>
                <a:off x="3876894" y="5191963"/>
                <a:ext cx="3658759" cy="407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64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  <m:r>
                            <a:rPr lang="en-GB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GB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</m:e>
                      </m:d>
                      <m:r>
                        <a:rPr lang="pl-PL" sz="264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l-PL" sz="2645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64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  <m: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264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1" name="pole tekstow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894" y="5191963"/>
                <a:ext cx="3658759" cy="4070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Obraz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5167" y="3867411"/>
            <a:ext cx="2697251" cy="1553281"/>
          </a:xfrm>
          <a:prstGeom prst="rect">
            <a:avLst/>
          </a:prstGeom>
        </p:spPr>
      </p:pic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CD2A940-A6FA-1326-441B-CC40D4904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835064D-EC07-49FE-21C7-E5A1ECA3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20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717559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Conditional</a:t>
            </a:r>
            <a:r>
              <a:rPr lang="pl-PL" dirty="0"/>
              <a:t> </a:t>
            </a:r>
            <a:r>
              <a:rPr lang="pl-PL" dirty="0" err="1"/>
              <a:t>probability</a:t>
            </a:r>
            <a:endParaRPr lang="en-GB" dirty="0"/>
          </a:p>
        </p:txBody>
      </p:sp>
      <p:sp>
        <p:nvSpPr>
          <p:cNvPr id="7" name="Rectangle 2"/>
          <p:cNvSpPr>
            <a:spLocks noGrp="1"/>
          </p:cNvSpPr>
          <p:nvPr>
            <p:ph idx="1"/>
          </p:nvPr>
        </p:nvSpPr>
        <p:spPr>
          <a:xfrm>
            <a:off x="1820168" y="1749923"/>
            <a:ext cx="9937104" cy="555395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l-PL" sz="1800" b="1" dirty="0"/>
              <a:t>Ex. 1 </a:t>
            </a:r>
            <a:r>
              <a:rPr lang="en-GB" sz="1800" dirty="0"/>
              <a:t>We have a fair die which is tossed once. Calculate the probability that a single toss of a die will result in a number less than 4. Repeat the math if it is given that the toss resulted in an odd number.</a:t>
            </a:r>
            <a:endParaRPr lang="pl-PL" sz="1800" dirty="0"/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If no additional information is available we estimate the probability of turning 4 as a union of fundamental events </a:t>
            </a:r>
            <a:r>
              <a:rPr lang="pl-PL" sz="1800" dirty="0"/>
              <a:t>1, 2, 3:</a:t>
            </a:r>
          </a:p>
          <a:p>
            <a:pPr marL="789539" lvl="1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pl-PL" sz="1800" dirty="0"/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Now, we know that an event „an odd number turned” has occurred, we have</a:t>
            </a:r>
            <a:r>
              <a:rPr lang="pl-PL" sz="1800" dirty="0"/>
              <a:t>:</a:t>
            </a:r>
          </a:p>
          <a:p>
            <a:pPr marL="789539" lvl="1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pl-PL" sz="1800" dirty="0"/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pl-PL" sz="1800" dirty="0"/>
          </a:p>
          <a:p>
            <a:pPr marL="503238" lvl="1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pl-PL" sz="1800" dirty="0"/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In this case we „added knowledge” to our calculations! We knew that an odd number turned. 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So, the values of p</a:t>
            </a:r>
            <a:r>
              <a:rPr lang="pl-PL" sz="1800" dirty="0"/>
              <a:t>r</a:t>
            </a:r>
            <a:r>
              <a:rPr lang="en-GB" sz="1800" dirty="0" err="1"/>
              <a:t>obabilities</a:t>
            </a:r>
            <a:r>
              <a:rPr lang="en-GB" sz="1800" dirty="0"/>
              <a:t> we are going to assign to events depends on the extent of our knowledge about this event. In time it can change</a:t>
            </a:r>
            <a:r>
              <a:rPr lang="pl-PL" sz="1800" dirty="0"/>
              <a:t>!</a:t>
            </a:r>
            <a:endParaRPr lang="en-GB" sz="1800" dirty="0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/>
              <p:cNvSpPr txBox="1"/>
              <p:nvPr/>
            </p:nvSpPr>
            <p:spPr>
              <a:xfrm>
                <a:off x="4315732" y="3066030"/>
                <a:ext cx="3432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2" name="pole tekstow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732" y="3066030"/>
                <a:ext cx="3432222" cy="276999"/>
              </a:xfrm>
              <a:prstGeom prst="rect">
                <a:avLst/>
              </a:prstGeom>
              <a:blipFill>
                <a:blip r:embed="rId3"/>
                <a:stretch>
                  <a:fillRect l="-1066" r="-1066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/>
              <p:cNvSpPr txBox="1"/>
              <p:nvPr/>
            </p:nvSpPr>
            <p:spPr>
              <a:xfrm>
                <a:off x="4435770" y="4006499"/>
                <a:ext cx="140788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l-PL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770" y="4006499"/>
                <a:ext cx="1407886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rostokąt 7"/>
              <p:cNvSpPr/>
              <p:nvPr/>
            </p:nvSpPr>
            <p:spPr>
              <a:xfrm>
                <a:off x="4315732" y="4597510"/>
                <a:ext cx="4170629" cy="6649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l-P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pl-P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1/3</m:t>
                          </m:r>
                        </m:num>
                        <m:den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1/2</m:t>
                          </m:r>
                        </m:den>
                      </m:f>
                      <m:r>
                        <a:rPr lang="pl-P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8" name="Prostoką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732" y="4597510"/>
                <a:ext cx="4170629" cy="664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ymbol zastępczy stopki 10">
            <a:extLst>
              <a:ext uri="{FF2B5EF4-FFF2-40B4-BE49-F238E27FC236}">
                <a16:creationId xmlns:a16="http://schemas.microsoft.com/office/drawing/2014/main" id="{4912263B-DD2E-ADB1-3004-F4C09A36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12" name="Symbol zastępczy numeru slajdu 11">
            <a:extLst>
              <a:ext uri="{FF2B5EF4-FFF2-40B4-BE49-F238E27FC236}">
                <a16:creationId xmlns:a16="http://schemas.microsoft.com/office/drawing/2014/main" id="{0A74E909-8F6F-C781-0102-43027638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21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829579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4408" dirty="0"/>
              <a:t>Some t</a:t>
            </a:r>
            <a:r>
              <a:rPr lang="en-US" sz="4408" dirty="0"/>
              <a:t>h</a:t>
            </a:r>
            <a:r>
              <a:rPr lang="pl-PL" sz="4408" dirty="0"/>
              <a:t>eorems on CP</a:t>
            </a:r>
            <a:r>
              <a:rPr lang="en-US" sz="4408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828280" y="1918490"/>
                <a:ext cx="8766374" cy="5236582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pl-PL" sz="1800" b="1" dirty="0"/>
                  <a:t>Theorem.1</a:t>
                </a:r>
                <a:r>
                  <a:rPr lang="pl-PL" sz="1800" dirty="0"/>
                  <a:t> </a:t>
                </a:r>
                <a:r>
                  <a:rPr lang="en-GB" sz="1800" dirty="0"/>
                  <a:t>Let say we have three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l-PL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l-PL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l-PL" sz="1800" dirty="0"/>
                  <a:t>. </a:t>
                </a:r>
                <a:r>
                  <a:rPr lang="en-GB" sz="1800" dirty="0"/>
                  <a:t>The probability that they all occur can be calculated as follow (can easily be generalised to any number of events):</a:t>
                </a:r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pl-PL" sz="1800" b="1" dirty="0"/>
                  <a:t>Theorem.2 </a:t>
                </a:r>
                <a:r>
                  <a:rPr lang="en-GB" sz="1800" dirty="0"/>
                  <a:t>Imagine that we have an event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800" dirty="0"/>
                  <a:t>that can be represented by n mutually exclusive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1800" dirty="0"/>
                  <a:t> (</a:t>
                </a:r>
                <a:r>
                  <a:rPr lang="el-GR" sz="1800" dirty="0"/>
                  <a:t>Ω </a:t>
                </a:r>
                <a14:m>
                  <m:oMath xmlns:m="http://schemas.openxmlformats.org/officeDocument/2006/math">
                    <m:r>
                      <a:rPr lang="pl-PL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pl-PL" sz="1800" dirty="0"/>
                  <a:t> …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1800" dirty="0"/>
                  <a:t>), </a:t>
                </a:r>
                <a:r>
                  <a:rPr lang="pl-PL" sz="1800" dirty="0" err="1"/>
                  <a:t>then</a:t>
                </a: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endParaRPr lang="pl-PL" sz="1800" dirty="0"/>
              </a:p>
            </p:txBody>
          </p:sp>
        </mc:Choice>
        <mc:Fallback xmlns="">
          <p:sp>
            <p:nvSpPr>
              <p:cNvPr id="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28280" y="1918490"/>
                <a:ext cx="8766374" cy="5236582"/>
              </a:xfrm>
              <a:blipFill>
                <a:blip r:embed="rId2"/>
                <a:stretch>
                  <a:fillRect l="-487" t="-698" r="-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raz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/>
              <p:cNvSpPr txBox="1"/>
              <p:nvPr/>
            </p:nvSpPr>
            <p:spPr>
              <a:xfrm>
                <a:off x="4445524" y="2610805"/>
                <a:ext cx="4984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l-PL" sz="1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l-PL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l-P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l-P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524" y="2610805"/>
                <a:ext cx="4984505" cy="276999"/>
              </a:xfrm>
              <a:prstGeom prst="rect">
                <a:avLst/>
              </a:prstGeom>
              <a:blipFill>
                <a:blip r:embed="rId4"/>
                <a:stretch>
                  <a:fillRect l="-611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/>
              <p:cNvSpPr txBox="1"/>
              <p:nvPr/>
            </p:nvSpPr>
            <p:spPr>
              <a:xfrm>
                <a:off x="3404344" y="3926602"/>
                <a:ext cx="6908430" cy="679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l-PL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/0</m:t>
                          </m:r>
                        </m:sub>
                        <m:sup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344" y="3926602"/>
                <a:ext cx="6908430" cy="6798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Obraz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9740" y="4970500"/>
            <a:ext cx="3733730" cy="1813729"/>
          </a:xfrm>
          <a:prstGeom prst="rect">
            <a:avLst/>
          </a:prstGeom>
        </p:spPr>
      </p:pic>
      <p:sp>
        <p:nvSpPr>
          <p:cNvPr id="12" name="Dowolny kształt: kształt 11"/>
          <p:cNvSpPr/>
          <p:nvPr/>
        </p:nvSpPr>
        <p:spPr>
          <a:xfrm>
            <a:off x="3836392" y="4517151"/>
            <a:ext cx="1895144" cy="1089781"/>
          </a:xfrm>
          <a:custGeom>
            <a:avLst/>
            <a:gdLst>
              <a:gd name="connsiteX0" fmla="*/ 21792 w 1719963"/>
              <a:gd name="connsiteY0" fmla="*/ 0 h 989045"/>
              <a:gd name="connsiteX1" fmla="*/ 87106 w 1719963"/>
              <a:gd name="connsiteY1" fmla="*/ 569167 h 989045"/>
              <a:gd name="connsiteX2" fmla="*/ 721588 w 1719963"/>
              <a:gd name="connsiteY2" fmla="*/ 569167 h 989045"/>
              <a:gd name="connsiteX3" fmla="*/ 1719963 w 1719963"/>
              <a:gd name="connsiteY3" fmla="*/ 989045 h 98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9963" h="989045">
                <a:moveTo>
                  <a:pt x="21792" y="0"/>
                </a:moveTo>
                <a:cubicBezTo>
                  <a:pt x="-3868" y="237153"/>
                  <a:pt x="-29527" y="474306"/>
                  <a:pt x="87106" y="569167"/>
                </a:cubicBezTo>
                <a:cubicBezTo>
                  <a:pt x="203739" y="664028"/>
                  <a:pt x="449445" y="499187"/>
                  <a:pt x="721588" y="569167"/>
                </a:cubicBezTo>
                <a:cubicBezTo>
                  <a:pt x="993731" y="639147"/>
                  <a:pt x="1356847" y="814096"/>
                  <a:pt x="1719963" y="989045"/>
                </a:cubicBezTo>
              </a:path>
            </a:pathLst>
          </a:custGeom>
          <a:ln w="25400">
            <a:headEnd type="oval"/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645"/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8B2A0B94-FAB8-A388-CA7E-08FC5804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00BE21C-081C-A2A2-B3D4-BA8894D8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22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914846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Independent </a:t>
            </a:r>
            <a:r>
              <a:rPr lang="pl-PL" dirty="0" err="1"/>
              <a:t>events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324224" y="1840414"/>
                <a:ext cx="8770430" cy="5474608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l-PL" sz="1800" dirty="0"/>
                  <a:t>It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kind</a:t>
                </a:r>
                <a:r>
                  <a:rPr lang="pl-PL" sz="1800" dirty="0"/>
                  <a:t> of </a:t>
                </a:r>
                <a:r>
                  <a:rPr lang="pl-PL" sz="1800" dirty="0" err="1"/>
                  <a:t>easy</a:t>
                </a:r>
                <a:r>
                  <a:rPr lang="pl-PL" sz="1800" dirty="0"/>
                  <a:t> to </a:t>
                </a:r>
                <a:r>
                  <a:rPr lang="pl-PL" sz="1800" dirty="0" err="1"/>
                  <a:t>notice</a:t>
                </a:r>
                <a:r>
                  <a:rPr lang="pl-PL" sz="1800" dirty="0"/>
                  <a:t>, </a:t>
                </a:r>
                <a:r>
                  <a:rPr lang="pl-PL" sz="1800" dirty="0" err="1"/>
                  <a:t>that</a:t>
                </a:r>
                <a:r>
                  <a:rPr lang="pl-PL" sz="1800" dirty="0"/>
                  <a:t> </a:t>
                </a:r>
                <a:r>
                  <a:rPr lang="pl-PL" sz="1800" dirty="0" err="1"/>
                  <a:t>if</a:t>
                </a:r>
                <a:r>
                  <a:rPr lang="pl-PL" sz="1800" dirty="0"/>
                  <a:t> </a:t>
                </a:r>
                <a:r>
                  <a:rPr lang="pl-PL" sz="1800" dirty="0" err="1"/>
                  <a:t>there</a:t>
                </a:r>
                <a:r>
                  <a:rPr lang="pl-PL" sz="1800" dirty="0"/>
                  <a:t>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 no influence of event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 on event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800" dirty="0"/>
                  <a:t> (</a:t>
                </a:r>
                <a:r>
                  <a:rPr lang="pl-PL" sz="1800" dirty="0" err="1"/>
                  <a:t>so</a:t>
                </a:r>
                <a:r>
                  <a:rPr lang="pl-PL" sz="1800" dirty="0"/>
                  <a:t> </a:t>
                </a:r>
                <a:r>
                  <a:rPr lang="pl-PL" sz="1800" dirty="0" err="1"/>
                  <a:t>it</a:t>
                </a:r>
                <a:r>
                  <a:rPr lang="pl-PL" sz="1800" dirty="0"/>
                  <a:t> </a:t>
                </a:r>
                <a:r>
                  <a:rPr lang="pl-PL" sz="1800" dirty="0" err="1"/>
                  <a:t>does</a:t>
                </a:r>
                <a:r>
                  <a:rPr lang="pl-PL" sz="1800" dirty="0"/>
                  <a:t> not </a:t>
                </a:r>
                <a:r>
                  <a:rPr lang="pl-PL" sz="1800" dirty="0" err="1"/>
                  <a:t>matter</a:t>
                </a:r>
                <a:r>
                  <a:rPr lang="pl-PL" sz="1800" dirty="0"/>
                  <a:t> </a:t>
                </a:r>
                <a:r>
                  <a:rPr lang="pl-PL" sz="1800" dirty="0" err="1"/>
                  <a:t>if</a:t>
                </a:r>
                <a:r>
                  <a:rPr lang="pl-PL" sz="1800" dirty="0"/>
                  <a:t> the </a:t>
                </a:r>
                <a:r>
                  <a:rPr lang="pl-PL" sz="1800" dirty="0" err="1"/>
                  <a:t>former</a:t>
                </a:r>
                <a:r>
                  <a:rPr lang="pl-PL" sz="1800" dirty="0"/>
                  <a:t> event </a:t>
                </a:r>
                <a:r>
                  <a:rPr lang="pl-PL" sz="1800" dirty="0" err="1"/>
                  <a:t>occur</a:t>
                </a:r>
                <a:r>
                  <a:rPr lang="pl-PL" sz="1800" dirty="0"/>
                  <a:t> </a:t>
                </a:r>
                <a:r>
                  <a:rPr lang="pl-PL" sz="1800" dirty="0" err="1"/>
                  <a:t>or</a:t>
                </a:r>
                <a:r>
                  <a:rPr lang="pl-PL" sz="1800" dirty="0"/>
                  <a:t> not), </a:t>
                </a:r>
                <a:r>
                  <a:rPr lang="pl-PL" sz="1800" dirty="0" err="1"/>
                  <a:t>then</a:t>
                </a:r>
                <a:endParaRPr lang="pl-PL" sz="1800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l-PL" sz="1800" dirty="0"/>
                  <a:t>In </a:t>
                </a:r>
                <a:r>
                  <a:rPr lang="pl-PL" sz="1800" dirty="0" err="1"/>
                  <a:t>other</a:t>
                </a:r>
                <a:r>
                  <a:rPr lang="pl-PL" sz="1800" dirty="0"/>
                  <a:t> </a:t>
                </a:r>
                <a:r>
                  <a:rPr lang="pl-PL" sz="1800" dirty="0" err="1"/>
                  <a:t>words</a:t>
                </a:r>
                <a:r>
                  <a:rPr lang="pl-PL" sz="1800" dirty="0"/>
                  <a:t> we </a:t>
                </a:r>
                <a:r>
                  <a:rPr lang="pl-PL" sz="1800" dirty="0" err="1"/>
                  <a:t>say</a:t>
                </a:r>
                <a:r>
                  <a:rPr lang="pl-PL" sz="1800" dirty="0"/>
                  <a:t> </a:t>
                </a:r>
                <a:r>
                  <a:rPr lang="pl-PL" sz="1800" dirty="0" err="1"/>
                  <a:t>that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 and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are</a:t>
                </a:r>
                <a:r>
                  <a:rPr lang="pl-PL" sz="1800" dirty="0"/>
                  <a:t> </a:t>
                </a:r>
                <a:r>
                  <a:rPr lang="pl-PL" sz="1800" b="1" dirty="0"/>
                  <a:t>independent </a:t>
                </a:r>
                <a:r>
                  <a:rPr lang="pl-PL" sz="1800" b="1" dirty="0" err="1"/>
                  <a:t>events</a:t>
                </a:r>
                <a:endParaRPr lang="pl-PL" sz="1800" b="1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pl-PL" sz="1800" b="1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pl-PL" sz="1800" b="1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This definition can easily be extended to any number of events. Say, we have three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l-PL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l-PL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l-PL" sz="1800" dirty="0"/>
                  <a:t> </a:t>
                </a:r>
                <a:r>
                  <a:rPr lang="en-GB" sz="1800" dirty="0"/>
                  <a:t>and they are pair-wise independent</a:t>
                </a:r>
                <a:endParaRPr lang="pl-PL" sz="1800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l-PL" sz="1800" dirty="0" err="1"/>
                  <a:t>Now</a:t>
                </a:r>
                <a:r>
                  <a:rPr lang="pl-PL" sz="1800" dirty="0"/>
                  <a:t>, </a:t>
                </a:r>
                <a:r>
                  <a:rPr lang="pl-PL" sz="1800" dirty="0" err="1"/>
                  <a:t>putting</a:t>
                </a:r>
                <a:r>
                  <a:rPr lang="pl-PL" sz="1800" dirty="0"/>
                  <a:t> </a:t>
                </a:r>
                <a:r>
                  <a:rPr lang="pl-PL" sz="1800" dirty="0" err="1"/>
                  <a:t>this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all</a:t>
                </a:r>
                <a:r>
                  <a:rPr lang="pl-PL" sz="1800" dirty="0"/>
                  <a:t> </a:t>
                </a:r>
                <a:r>
                  <a:rPr lang="pl-PL" sz="1800" dirty="0" err="1"/>
                  <a:t>together</a:t>
                </a:r>
                <a:r>
                  <a:rPr lang="pl-PL" sz="1800" dirty="0"/>
                  <a:t>, we </a:t>
                </a:r>
                <a:r>
                  <a:rPr lang="pl-PL" sz="1800" dirty="0" err="1"/>
                  <a:t>come</a:t>
                </a:r>
                <a:r>
                  <a:rPr lang="pl-PL" sz="1800" dirty="0"/>
                  <a:t> to a </a:t>
                </a:r>
                <a:r>
                  <a:rPr lang="pl-PL" sz="1800" dirty="0" err="1"/>
                  <a:t>very</a:t>
                </a:r>
                <a:r>
                  <a:rPr lang="pl-PL" sz="1800" dirty="0"/>
                  <a:t> </a:t>
                </a:r>
                <a:r>
                  <a:rPr lang="pl-PL" sz="1800" dirty="0" err="1"/>
                  <a:t>interesting</a:t>
                </a:r>
                <a:r>
                  <a:rPr lang="pl-PL" sz="1800" dirty="0"/>
                  <a:t> </a:t>
                </a:r>
                <a:r>
                  <a:rPr lang="pl-PL" sz="1800" dirty="0" err="1"/>
                  <a:t>conclusion</a:t>
                </a:r>
                <a:r>
                  <a:rPr lang="pl-PL" sz="1800" dirty="0"/>
                  <a:t> </a:t>
                </a:r>
                <a:r>
                  <a:rPr lang="pl-PL" sz="1800" dirty="0" err="1"/>
                  <a:t>that</a:t>
                </a:r>
                <a:r>
                  <a:rPr lang="pl-PL" sz="1800" dirty="0"/>
                  <a:t>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called</a:t>
                </a:r>
                <a:r>
                  <a:rPr lang="pl-PL" sz="1800" dirty="0"/>
                  <a:t>…</a:t>
                </a:r>
                <a:endParaRPr lang="en-GB" sz="1800" dirty="0"/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24224" y="1840414"/>
                <a:ext cx="8770430" cy="5474608"/>
              </a:xfrm>
              <a:blipFill>
                <a:blip r:embed="rId2"/>
                <a:stretch>
                  <a:fillRect l="-417" t="-668" r="-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/>
              <p:cNvSpPr txBox="1"/>
              <p:nvPr/>
            </p:nvSpPr>
            <p:spPr>
              <a:xfrm>
                <a:off x="4932083" y="2595245"/>
                <a:ext cx="17591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83" y="2595245"/>
                <a:ext cx="1759135" cy="307777"/>
              </a:xfrm>
              <a:prstGeom prst="rect">
                <a:avLst/>
              </a:prstGeom>
              <a:blipFill>
                <a:blip r:embed="rId4"/>
                <a:stretch>
                  <a:fillRect l="-2768" b="-3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/>
              <p:cNvSpPr txBox="1"/>
              <p:nvPr/>
            </p:nvSpPr>
            <p:spPr>
              <a:xfrm>
                <a:off x="4124424" y="3560908"/>
                <a:ext cx="4345144" cy="467992"/>
              </a:xfrm>
              <a:prstGeom prst="rect">
                <a:avLst/>
              </a:prstGeom>
              <a:noFill/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79333" tIns="79333" rIns="79333" bIns="79333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pole tekstow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424" y="3560908"/>
                <a:ext cx="4345144" cy="467992"/>
              </a:xfrm>
              <a:prstGeom prst="rect">
                <a:avLst/>
              </a:prstGeom>
              <a:blipFill>
                <a:blip r:embed="rId5"/>
                <a:stretch>
                  <a:fillRect b="-4938"/>
                </a:stretch>
              </a:blipFill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rostokąt 5"/>
              <p:cNvSpPr/>
              <p:nvPr/>
            </p:nvSpPr>
            <p:spPr>
              <a:xfrm>
                <a:off x="3744124" y="4981205"/>
                <a:ext cx="4903394" cy="4469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=1,2,3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Prostoką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124" y="4981205"/>
                <a:ext cx="4903394" cy="446917"/>
              </a:xfrm>
              <a:prstGeom prst="rect">
                <a:avLst/>
              </a:prstGeom>
              <a:blipFill>
                <a:blip r:embed="rId6"/>
                <a:stretch>
                  <a:fillRect b="-95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3836392" y="5524152"/>
                <a:ext cx="42007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392" y="5524152"/>
                <a:ext cx="4200765" cy="307777"/>
              </a:xfrm>
              <a:prstGeom prst="rect">
                <a:avLst/>
              </a:prstGeom>
              <a:blipFill>
                <a:blip r:embed="rId7"/>
                <a:stretch>
                  <a:fillRect l="-871" b="-27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ymbol zastępczy stopki 9">
            <a:extLst>
              <a:ext uri="{FF2B5EF4-FFF2-40B4-BE49-F238E27FC236}">
                <a16:creationId xmlns:a16="http://schemas.microsoft.com/office/drawing/2014/main" id="{2869158F-61A6-0CAE-28DA-6E67ACE1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11" name="Symbol zastępczy numeru slajdu 10">
            <a:extLst>
              <a:ext uri="{FF2B5EF4-FFF2-40B4-BE49-F238E27FC236}">
                <a16:creationId xmlns:a16="http://schemas.microsoft.com/office/drawing/2014/main" id="{E70107AF-6113-7ACA-D1D0-7353DF43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23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104593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Bayes’ </a:t>
            </a:r>
            <a:r>
              <a:rPr lang="en-GB" dirty="0"/>
              <a:t>Theorem</a:t>
            </a:r>
            <a:r>
              <a:rPr lang="pl-PL" dirty="0"/>
              <a:t> (I)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430746" y="1744462"/>
                <a:ext cx="8820980" cy="5236582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GB" sz="1800" dirty="0"/>
                  <a:t>Let’s assume that the sample space can be divided into mutually exclusive events</a:t>
                </a:r>
                <a:r>
                  <a:rPr lang="pl-PL" sz="1800" dirty="0"/>
                  <a:t>: </a:t>
                </a:r>
                <a:r>
                  <a:rPr lang="el-GR" sz="1800" dirty="0"/>
                  <a:t>Ω </a:t>
                </a:r>
                <a14:m>
                  <m:oMath xmlns:m="http://schemas.openxmlformats.org/officeDocument/2006/math">
                    <m:r>
                      <a:rPr lang="pl-PL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pl-PL" sz="1800" dirty="0"/>
                  <a:t> …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1800" dirty="0"/>
                  <a:t> </a:t>
                </a:r>
                <a:r>
                  <a:rPr lang="en-GB" sz="1800" dirty="0"/>
                  <a:t>(see also plot on slide 16), by this we enforce that any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800" dirty="0"/>
                  <a:t> </a:t>
                </a:r>
                <a:r>
                  <a:rPr lang="en-GB" sz="1800" b="1" dirty="0"/>
                  <a:t>must occur</a:t>
                </a:r>
                <a:r>
                  <a:rPr lang="pl-PL" sz="1800" dirty="0"/>
                  <a:t>. </a:t>
                </a:r>
                <a:r>
                  <a:rPr lang="pl-PL" sz="1800" dirty="0" err="1"/>
                  <a:t>Now</a:t>
                </a:r>
                <a:r>
                  <a:rPr lang="pl-PL" sz="1800" dirty="0"/>
                  <a:t>, </a:t>
                </a:r>
                <a:r>
                  <a:rPr lang="pl-PL" sz="1800" dirty="0" err="1"/>
                  <a:t>if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b="1" dirty="0"/>
                  <a:t>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any</a:t>
                </a:r>
                <a:r>
                  <a:rPr lang="pl-PL" sz="1800" dirty="0"/>
                  <a:t> event from </a:t>
                </a:r>
                <a:r>
                  <a:rPr lang="pl-PL" sz="1800" dirty="0" err="1"/>
                  <a:t>this</a:t>
                </a:r>
                <a:r>
                  <a:rPr lang="pl-PL" sz="1800" dirty="0"/>
                  <a:t> </a:t>
                </a:r>
                <a:r>
                  <a:rPr lang="en-GB" sz="1800" dirty="0"/>
                  <a:t>sample space then we have the following theorem</a:t>
                </a:r>
                <a:r>
                  <a:rPr lang="pl-PL" sz="1800" dirty="0"/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q"/>
                </a:pPr>
                <a:endParaRPr lang="pl-PL" sz="1800" b="1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q"/>
                </a:pPr>
                <a:endParaRPr lang="pl-PL" sz="1800" b="1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q"/>
                </a:pPr>
                <a:endParaRPr lang="pl-PL" sz="1800" b="1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q"/>
                </a:pPr>
                <a:endParaRPr lang="pl-PL" sz="1800" b="1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GB" sz="1800" dirty="0"/>
                  <a:t>By means of Bayes theorem we can estimate probability of various events</a:t>
                </a:r>
                <a:r>
                  <a:rPr lang="pl-PL" sz="1800" dirty="0"/>
                  <a:t> </a:t>
                </a:r>
                <a:r>
                  <a:rPr lang="en-GB" sz="1800" dirty="0"/>
                  <a:t>that can cause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l-PL" sz="1800" dirty="0"/>
                  <a:t> to </a:t>
                </a:r>
                <a:r>
                  <a:rPr lang="en-GB" sz="1800" dirty="0"/>
                  <a:t>occur. Therefore, it is also called a theorem on prob. of causes</a:t>
                </a:r>
                <a:r>
                  <a:rPr lang="pl-PL" sz="1800" dirty="0"/>
                  <a:t>.</a:t>
                </a:r>
                <a:endParaRPr lang="en-US" sz="1800" dirty="0"/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0746" y="1744462"/>
                <a:ext cx="8820980" cy="5236582"/>
              </a:xfrm>
              <a:blipFill>
                <a:blip r:embed="rId2"/>
                <a:stretch>
                  <a:fillRect l="-484" t="-582" r="-5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/>
              <p:cNvSpPr txBox="1"/>
              <p:nvPr/>
            </p:nvSpPr>
            <p:spPr>
              <a:xfrm>
                <a:off x="3761484" y="2903110"/>
                <a:ext cx="5222179" cy="948252"/>
              </a:xfrm>
              <a:prstGeom prst="rect">
                <a:avLst/>
              </a:prstGeom>
              <a:noFill/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79333" tIns="79333" rIns="79333" bIns="79333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/0</m:t>
                              </m:r>
                            </m:sub>
                            <m:sup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l-PL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pl-PL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𝔸</m:t>
                                  </m:r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pl-PL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pl-PL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484" y="2903110"/>
                <a:ext cx="5222179" cy="9482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Obraz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763" y="4866453"/>
            <a:ext cx="4327697" cy="1891169"/>
          </a:xfrm>
          <a:prstGeom prst="rect">
            <a:avLst/>
          </a:prstGeom>
        </p:spPr>
      </p:pic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B076BF2-6E9C-938D-BC49-D1105CDF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CDA1995-5B69-3580-9FD4-6B0FD9EE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24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070718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03E2AB1C-F1EA-473E-84F1-234935B54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6" name="Tytuł 1">
            <a:extLst>
              <a:ext uri="{FF2B5EF4-FFF2-40B4-BE49-F238E27FC236}">
                <a16:creationId xmlns:a16="http://schemas.microsoft.com/office/drawing/2014/main" id="{BCCB2362-92D0-4480-8B91-44CC0151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369" y="687677"/>
            <a:ext cx="7260321" cy="1411351"/>
          </a:xfrm>
        </p:spPr>
        <p:txBody>
          <a:bodyPr/>
          <a:lstStyle/>
          <a:p>
            <a:r>
              <a:rPr lang="pl-PL" dirty="0"/>
              <a:t>Bayes’ </a:t>
            </a:r>
            <a:r>
              <a:rPr lang="en-GB" dirty="0"/>
              <a:t>Theorem</a:t>
            </a:r>
            <a:r>
              <a:rPr lang="pl-PL" dirty="0"/>
              <a:t> (II)</a:t>
            </a:r>
            <a:endParaRPr lang="en-GB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DC00A9-3EAB-4416-AEB2-E3C2E0197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375" y="1931869"/>
            <a:ext cx="7740315" cy="523658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331"/>
              </a:spcBef>
              <a:buNone/>
            </a:pPr>
            <a:r>
              <a:rPr lang="pl-PL" sz="1763" dirty="0" err="1"/>
              <a:t>Pictures</a:t>
            </a:r>
            <a:r>
              <a:rPr lang="pl-PL" sz="1763" dirty="0"/>
              <a:t> </a:t>
            </a:r>
            <a:r>
              <a:rPr lang="pl-PL" sz="1763" dirty="0" err="1"/>
              <a:t>are</a:t>
            </a:r>
            <a:r>
              <a:rPr lang="pl-PL" sz="1763" dirty="0"/>
              <a:t> nice, </a:t>
            </a:r>
            <a:r>
              <a:rPr lang="pl-PL" sz="1763" dirty="0" err="1"/>
              <a:t>so</a:t>
            </a:r>
            <a:r>
              <a:rPr lang="pl-PL" sz="1763" dirty="0"/>
              <a:t>…</a:t>
            </a:r>
            <a:endParaRPr lang="en-US" sz="2204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B15AA78-E6C4-4776-91C6-D01749D35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901" y="2507766"/>
            <a:ext cx="3448200" cy="3574740"/>
          </a:xfrm>
          <a:prstGeom prst="rect">
            <a:avLst/>
          </a:prstGeom>
        </p:spPr>
      </p:pic>
      <p:grpSp>
        <p:nvGrpSpPr>
          <p:cNvPr id="12" name="Grupa 11">
            <a:extLst>
              <a:ext uri="{FF2B5EF4-FFF2-40B4-BE49-F238E27FC236}">
                <a16:creationId xmlns:a16="http://schemas.microsoft.com/office/drawing/2014/main" id="{029A83C0-4720-0980-FAA4-89318EE462D9}"/>
              </a:ext>
            </a:extLst>
          </p:cNvPr>
          <p:cNvGrpSpPr/>
          <p:nvPr/>
        </p:nvGrpSpPr>
        <p:grpSpPr>
          <a:xfrm>
            <a:off x="6878666" y="3366871"/>
            <a:ext cx="5216468" cy="1479076"/>
            <a:chOff x="4197877" y="5771229"/>
            <a:chExt cx="5216468" cy="1479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Prostokąt 8">
                  <a:extLst>
                    <a:ext uri="{FF2B5EF4-FFF2-40B4-BE49-F238E27FC236}">
                      <a16:creationId xmlns:a16="http://schemas.microsoft.com/office/drawing/2014/main" id="{CCA9B8EF-C518-4267-98EA-FA4266E11111}"/>
                    </a:ext>
                  </a:extLst>
                </p:cNvPr>
                <p:cNvSpPr/>
                <p:nvPr/>
              </p:nvSpPr>
              <p:spPr>
                <a:xfrm>
                  <a:off x="4197877" y="6148940"/>
                  <a:ext cx="5037667" cy="741485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sz="2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l-PL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𝔸</m:t>
                            </m:r>
                            <m:r>
                              <a:rPr lang="pl-PL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pl-PL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𝔹</m:t>
                            </m:r>
                          </m:e>
                        </m:d>
                        <m:r>
                          <a:rPr lang="pl-PL" sz="20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l-PL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l-PL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𝔸</m:t>
                                </m:r>
                              </m:e>
                            </m:d>
                            <m:r>
                              <a:rPr lang="pl-PL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l-PL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l-PL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𝔹</m:t>
                                </m:r>
                                <m:r>
                                  <a:rPr lang="pl-PL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𝔸</m:t>
                                </m:r>
                              </m:e>
                            </m:d>
                          </m:num>
                          <m:den>
                            <m:r>
                              <a:rPr lang="pl-PL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l-PL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l-PL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𝔹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9" name="Prostokąt 8">
                  <a:extLst>
                    <a:ext uri="{FF2B5EF4-FFF2-40B4-BE49-F238E27FC236}">
                      <a16:creationId xmlns:a16="http://schemas.microsoft.com/office/drawing/2014/main" id="{CCA9B8EF-C518-4267-98EA-FA4266E111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877" y="6148940"/>
                  <a:ext cx="5037667" cy="7414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pole tekstowe 9">
                  <a:extLst>
                    <a:ext uri="{FF2B5EF4-FFF2-40B4-BE49-F238E27FC236}">
                      <a16:creationId xmlns:a16="http://schemas.microsoft.com/office/drawing/2014/main" id="{E77C7054-7666-456A-BE9F-B2D07F3FD232}"/>
                    </a:ext>
                  </a:extLst>
                </p:cNvPr>
                <p:cNvSpPr txBox="1"/>
                <p:nvPr/>
              </p:nvSpPr>
              <p:spPr>
                <a:xfrm>
                  <a:off x="4827715" y="5771229"/>
                  <a:ext cx="4125793" cy="295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l-PL" sz="1322" b="1" i="1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pl-PL" sz="1322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32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</m:oMath>
                  </a14:m>
                  <a:r>
                    <a:rPr lang="pl-PL" sz="1322" b="1" dirty="0"/>
                    <a:t> - </a:t>
                  </a:r>
                  <a:r>
                    <a:rPr lang="en-GB" sz="1322" b="1" dirty="0">
                      <a:solidFill>
                        <a:srgbClr val="C00000"/>
                      </a:solidFill>
                    </a:rPr>
                    <a:t>prob. of A, we have no knowledge </a:t>
                  </a:r>
                  <a:r>
                    <a:rPr lang="pl-PL" sz="1322" b="1" dirty="0">
                      <a:solidFill>
                        <a:srgbClr val="C00000"/>
                      </a:solidFill>
                    </a:rPr>
                    <a:t>of B</a:t>
                  </a:r>
                </a:p>
              </p:txBody>
            </p:sp>
          </mc:Choice>
          <mc:Fallback xmlns="">
            <p:sp>
              <p:nvSpPr>
                <p:cNvPr id="10" name="pole tekstowe 9">
                  <a:extLst>
                    <a:ext uri="{FF2B5EF4-FFF2-40B4-BE49-F238E27FC236}">
                      <a16:creationId xmlns:a16="http://schemas.microsoft.com/office/drawing/2014/main" id="{E77C7054-7666-456A-BE9F-B2D07F3FD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7715" y="5771229"/>
                  <a:ext cx="4125793" cy="295787"/>
                </a:xfrm>
                <a:prstGeom prst="rect">
                  <a:avLst/>
                </a:prstGeom>
                <a:blipFill>
                  <a:blip r:embed="rId5"/>
                  <a:stretch>
                    <a:fillRect t="-2041" b="-2040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pole tekstowe 10">
                  <a:extLst>
                    <a:ext uri="{FF2B5EF4-FFF2-40B4-BE49-F238E27FC236}">
                      <a16:creationId xmlns:a16="http://schemas.microsoft.com/office/drawing/2014/main" id="{27E81D59-2FC3-4A33-8966-C661D91142F0}"/>
                    </a:ext>
                  </a:extLst>
                </p:cNvPr>
                <p:cNvSpPr txBox="1"/>
                <p:nvPr/>
              </p:nvSpPr>
              <p:spPr>
                <a:xfrm>
                  <a:off x="4653814" y="6954518"/>
                  <a:ext cx="4760531" cy="295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l-PL" sz="1322" b="1" i="1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pl-PL" sz="1322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32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  <m:r>
                            <a:rPr lang="pl-PL" sz="132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pl-PL" sz="132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</m:e>
                      </m:d>
                      <m:r>
                        <a:rPr lang="pl-PL" sz="1322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pl-PL" sz="1322" b="1" dirty="0"/>
                    <a:t>- </a:t>
                  </a:r>
                  <a:r>
                    <a:rPr lang="en-GB" sz="1322" b="1" dirty="0">
                      <a:solidFill>
                        <a:srgbClr val="C00000"/>
                      </a:solidFill>
                    </a:rPr>
                    <a:t>here</a:t>
                  </a:r>
                  <a:r>
                    <a:rPr lang="pl-PL" sz="1322" b="1" dirty="0">
                      <a:solidFill>
                        <a:srgbClr val="C00000"/>
                      </a:solidFill>
                    </a:rPr>
                    <a:t>,</a:t>
                  </a:r>
                  <a:r>
                    <a:rPr lang="en-GB" sz="1322" b="1" dirty="0">
                      <a:solidFill>
                        <a:srgbClr val="C00000"/>
                      </a:solidFill>
                    </a:rPr>
                    <a:t> we are smarter, we know B has occurred</a:t>
                  </a:r>
                </a:p>
              </p:txBody>
            </p:sp>
          </mc:Choice>
          <mc:Fallback xmlns="">
            <p:sp>
              <p:nvSpPr>
                <p:cNvPr id="11" name="pole tekstowe 10">
                  <a:extLst>
                    <a:ext uri="{FF2B5EF4-FFF2-40B4-BE49-F238E27FC236}">
                      <a16:creationId xmlns:a16="http://schemas.microsoft.com/office/drawing/2014/main" id="{27E81D59-2FC3-4A33-8966-C661D91142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3814" y="6954518"/>
                  <a:ext cx="4760531" cy="295787"/>
                </a:xfrm>
                <a:prstGeom prst="rect">
                  <a:avLst/>
                </a:prstGeom>
                <a:blipFill>
                  <a:blip r:embed="rId6"/>
                  <a:stretch>
                    <a:fillRect t="-2041" b="-2040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Łącznik prosty ze strzałką 12">
              <a:extLst>
                <a:ext uri="{FF2B5EF4-FFF2-40B4-BE49-F238E27FC236}">
                  <a16:creationId xmlns:a16="http://schemas.microsoft.com/office/drawing/2014/main" id="{BCDA456F-DE33-4FA7-A528-C12FE0472808}"/>
                </a:ext>
              </a:extLst>
            </p:cNvPr>
            <p:cNvCxnSpPr>
              <a:cxnSpLocks/>
            </p:cNvCxnSpPr>
            <p:nvPr/>
          </p:nvCxnSpPr>
          <p:spPr>
            <a:xfrm>
              <a:off x="6081975" y="6096217"/>
              <a:ext cx="476053" cy="249787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Łącznik prosty ze strzałką 13">
              <a:extLst>
                <a:ext uri="{FF2B5EF4-FFF2-40B4-BE49-F238E27FC236}">
                  <a16:creationId xmlns:a16="http://schemas.microsoft.com/office/drawing/2014/main" id="{B9A39075-CA46-4A69-A5F1-6089B232C2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0756" y="6713910"/>
              <a:ext cx="684508" cy="24060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B7E163AC-839C-5798-611D-92C87C2C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64CEB5F9-CCED-DBCC-921E-95B510BB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25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193964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D6EE3BB7-E2B7-4CE6-ACA1-549529D8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369" y="687677"/>
            <a:ext cx="7260321" cy="1411351"/>
          </a:xfrm>
        </p:spPr>
        <p:txBody>
          <a:bodyPr/>
          <a:lstStyle/>
          <a:p>
            <a:r>
              <a:rPr lang="pl-PL" dirty="0"/>
              <a:t>Bayes’ </a:t>
            </a:r>
            <a:r>
              <a:rPr lang="en-GB" dirty="0"/>
              <a:t>Theorem</a:t>
            </a:r>
            <a:r>
              <a:rPr lang="pl-PL" dirty="0"/>
              <a:t> (III)</a:t>
            </a:r>
            <a:endParaRPr lang="en-GB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6F76C3-16D8-4BDA-8680-07B3ABFBD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847" y="3979203"/>
            <a:ext cx="9073008" cy="3090573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One amazing thing about Bayes approach is capability of working out probabilities of events </a:t>
            </a:r>
            <a:r>
              <a:rPr lang="en-GB" sz="1800" b="1" dirty="0"/>
              <a:t>that cannot be even considered by frequentists</a:t>
            </a:r>
            <a:r>
              <a:rPr lang="en-GB" sz="1800" dirty="0"/>
              <a:t> (which deal with repeatable cases)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A critical difference (that is very useful for experimentalists) between frequentist and Bayesian methods is that the latter can give a probability that </a:t>
            </a:r>
            <a:r>
              <a:rPr lang="en-GB" sz="1800" b="1" dirty="0"/>
              <a:t>a value of unknown parameter </a:t>
            </a:r>
            <a:r>
              <a:rPr lang="en-GB" sz="1800" dirty="0"/>
              <a:t>(something that came from theory for instance) </a:t>
            </a:r>
            <a:r>
              <a:rPr lang="en-GB" sz="1800" b="1" dirty="0"/>
              <a:t>lies within a certain interval</a:t>
            </a:r>
          </a:p>
          <a:p>
            <a:pPr marL="503238" lvl="1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800" dirty="0"/>
              <a:t>Note, since a parameter is just a number and cannot be considered a random variable, </a:t>
            </a:r>
            <a:r>
              <a:rPr lang="en-GB" sz="1800" b="1" dirty="0"/>
              <a:t>this procedure would not be possible in a classical probability</a:t>
            </a:r>
          </a:p>
          <a:p>
            <a:pPr algn="just">
              <a:lnSpc>
                <a:spcPct val="110000"/>
              </a:lnSpc>
              <a:spcBef>
                <a:spcPts val="331"/>
              </a:spcBef>
              <a:spcAft>
                <a:spcPts val="331"/>
              </a:spcAft>
              <a:buFont typeface="Wingdings" panose="05000000000000000000" pitchFamily="2" charset="2"/>
              <a:buChar char="q"/>
            </a:pPr>
            <a:endParaRPr lang="en-US" sz="2204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C50ECE71-9EE2-4775-841E-6ACF2F897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02302BEC-E602-4E93-9DB8-8773ADD4E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874" y="1730441"/>
            <a:ext cx="3935677" cy="1889125"/>
          </a:xfrm>
          <a:prstGeom prst="rect">
            <a:avLst/>
          </a:prstGeom>
        </p:spPr>
      </p:pic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EF2E3ED6-799C-E662-B723-2F074D7E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06958A94-976E-E6D3-B117-5FA7247F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26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703264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8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Bayes’ </a:t>
            </a:r>
            <a:r>
              <a:rPr lang="pl-PL" dirty="0" err="1"/>
              <a:t>Theorem</a:t>
            </a:r>
            <a:r>
              <a:rPr lang="pl-PL" dirty="0"/>
              <a:t> (IV)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036192" y="1740692"/>
                <a:ext cx="9624160" cy="5633293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For a long time Bayes theorem was treated as not so interesting rule that is a simple consequence of conditional probability definition. However, recently the interpretation of the rule was revisited what sparked a new branch of statistics called Bayesian approach</a:t>
                </a:r>
                <a:r>
                  <a:rPr lang="pl-PL" sz="1800" dirty="0"/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Often treated as alternative/complementary way of assigning probabilities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Let’s rewrite the theorem as follow: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Here we use </a:t>
                </a:r>
                <a:r>
                  <a:rPr lang="en-GB" sz="1800" b="1" dirty="0"/>
                  <a:t>subjective probabilities</a:t>
                </a:r>
                <a:r>
                  <a:rPr lang="en-GB" sz="1800" dirty="0"/>
                  <a:t>, that express a </a:t>
                </a:r>
                <a:r>
                  <a:rPr lang="en-GB" sz="1800" b="1" dirty="0"/>
                  <a:t>degree of believe </a:t>
                </a:r>
                <a:r>
                  <a:rPr lang="en-GB" sz="1800" dirty="0"/>
                  <a:t>that something is true – that is the core of the Bayesian approach</a:t>
                </a: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„Theory” represents a hypothesis, „data” represent the outcome of an experiment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𝑡h𝑒𝑜𝑟𝑦</m:t>
                        </m:r>
                      </m:e>
                    </m:d>
                  </m:oMath>
                </a14:m>
                <a:r>
                  <a:rPr lang="en-GB" sz="1800" dirty="0"/>
                  <a:t> - represent a </a:t>
                </a:r>
                <a:r>
                  <a:rPr lang="en-GB" sz="1800" b="1" dirty="0"/>
                  <a:t>prior</a:t>
                </a:r>
                <a:r>
                  <a:rPr lang="en-GB" sz="1800" dirty="0"/>
                  <a:t> probability, or a degree of believe before measurement,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𝑑𝑎𝑡𝑎</m:t>
                        </m:r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𝑡h𝑒𝑜𝑟𝑦</m:t>
                        </m:r>
                      </m:e>
                    </m:d>
                  </m:oMath>
                </a14:m>
                <a:r>
                  <a:rPr lang="en-GB" sz="1800" dirty="0"/>
                  <a:t> - represent </a:t>
                </a:r>
                <a:r>
                  <a:rPr lang="en-GB" sz="1800" b="1" dirty="0"/>
                  <a:t>likelihood</a:t>
                </a:r>
                <a:r>
                  <a:rPr lang="en-GB" sz="1800" dirty="0"/>
                  <a:t> of getting the data given the theory is true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The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𝑡h𝑒𝑜𝑟𝑦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800" dirty="0"/>
                  <a:t>, </a:t>
                </a:r>
                <a:r>
                  <a:rPr lang="en-GB" sz="1800" b="1" dirty="0"/>
                  <a:t>posterior</a:t>
                </a:r>
                <a:r>
                  <a:rPr lang="en-GB" sz="1800" dirty="0"/>
                  <a:t>, tells us, how the </a:t>
                </a:r>
                <a:r>
                  <a:rPr lang="en-GB" sz="1800" b="1" dirty="0"/>
                  <a:t>prior</a:t>
                </a:r>
                <a:r>
                  <a:rPr lang="en-GB" sz="1800" dirty="0"/>
                  <a:t> probability should be changed given the observed data</a:t>
                </a:r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36192" y="1740692"/>
                <a:ext cx="9624160" cy="5633293"/>
              </a:xfrm>
              <a:blipFill>
                <a:blip r:embed="rId3"/>
                <a:stretch>
                  <a:fillRect l="-380" t="-649" r="-5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3620368" y="3702379"/>
                <a:ext cx="5125336" cy="387885"/>
              </a:xfrm>
              <a:prstGeom prst="rect">
                <a:avLst/>
              </a:prstGeom>
              <a:noFill/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39667" tIns="39667" rIns="39667" bIns="39667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𝑡h𝑒𝑜𝑟𝑦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𝑑𝑎𝑡𝑎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)∝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𝑡h𝑒𝑜𝑟𝑦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𝑡h𝑒𝑜𝑟𝑦</m:t>
                          </m:r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368" y="3702379"/>
                <a:ext cx="5125336" cy="387885"/>
              </a:xfrm>
              <a:prstGeom prst="rect">
                <a:avLst/>
              </a:prstGeom>
              <a:blipFill>
                <a:blip r:embed="rId4"/>
                <a:stretch>
                  <a:fillRect b="-16176"/>
                </a:stretch>
              </a:blipFill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5853D831-5936-0568-6A3C-5E5566B2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57545302-A0BF-2923-E0FF-A333A82E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27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682552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E90016B0-F792-4AFB-91B0-CB271CB44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6" name="Tytuł 1">
            <a:extLst>
              <a:ext uri="{FF2B5EF4-FFF2-40B4-BE49-F238E27FC236}">
                <a16:creationId xmlns:a16="http://schemas.microsoft.com/office/drawing/2014/main" id="{6631F9B5-EEE4-4E46-ADDD-598C0BEEB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369" y="687677"/>
            <a:ext cx="7260321" cy="1411351"/>
          </a:xfrm>
        </p:spPr>
        <p:txBody>
          <a:bodyPr/>
          <a:lstStyle/>
          <a:p>
            <a:r>
              <a:rPr lang="pl-PL" dirty="0"/>
              <a:t>Bayes’ </a:t>
            </a:r>
            <a:r>
              <a:rPr lang="pl-PL" dirty="0" err="1"/>
              <a:t>Theorem</a:t>
            </a:r>
            <a:r>
              <a:rPr lang="pl-PL" dirty="0"/>
              <a:t> </a:t>
            </a:r>
            <a:r>
              <a:rPr lang="pl-PL" dirty="0" err="1"/>
              <a:t>Example</a:t>
            </a:r>
            <a:endParaRPr lang="en-GB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3D8EBF63-6C55-458F-B731-AAB756C9A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531" y="2350092"/>
            <a:ext cx="8200344" cy="3466202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50CE1C5-4912-48B2-9612-A732E672C5A9}"/>
              </a:ext>
            </a:extLst>
          </p:cNvPr>
          <p:cNvSpPr txBox="1"/>
          <p:nvPr/>
        </p:nvSpPr>
        <p:spPr>
          <a:xfrm>
            <a:off x="6716712" y="6274974"/>
            <a:ext cx="5037667" cy="27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57" dirty="0"/>
              <a:t>https://www.mathsisfun.com/data/bayes-theorem.html</a:t>
            </a:r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990C9089-AFAF-4D70-9AA8-07F875767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Statistics -  AGH University of Krakow</a:t>
            </a:r>
            <a:endParaRPr lang="en-US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6D79AF9C-CA22-4025-97B0-787D08A7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28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012010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E90016B0-F792-4AFB-91B0-CB271CB44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6" name="Tytuł 1">
            <a:extLst>
              <a:ext uri="{FF2B5EF4-FFF2-40B4-BE49-F238E27FC236}">
                <a16:creationId xmlns:a16="http://schemas.microsoft.com/office/drawing/2014/main" id="{6631F9B5-EEE4-4E46-ADDD-598C0BEEB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369" y="687677"/>
            <a:ext cx="7260321" cy="1411351"/>
          </a:xfrm>
        </p:spPr>
        <p:txBody>
          <a:bodyPr/>
          <a:lstStyle/>
          <a:p>
            <a:r>
              <a:rPr lang="pl-PL" dirty="0"/>
              <a:t>Bayes’ </a:t>
            </a:r>
            <a:r>
              <a:rPr lang="pl-PL" dirty="0" err="1"/>
              <a:t>Theorem</a:t>
            </a:r>
            <a:r>
              <a:rPr lang="pl-PL" dirty="0"/>
              <a:t> </a:t>
            </a:r>
            <a:r>
              <a:rPr lang="pl-PL" dirty="0" err="1"/>
              <a:t>Example</a:t>
            </a:r>
            <a:endParaRPr lang="en-GB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284A26D2-79E1-4FB8-8893-9DEA2185D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083" y="1778926"/>
            <a:ext cx="8081257" cy="3998648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3BAF3DCB-08E2-41F2-B76F-CA6EF9E5E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368" y="5938490"/>
            <a:ext cx="5446950" cy="1155414"/>
          </a:xfrm>
          <a:prstGeom prst="rect">
            <a:avLst/>
          </a:prstGeom>
        </p:spPr>
      </p:pic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id="{D227EC52-ABD9-402E-87E4-4F94B11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72FAD55-B8BE-4C7C-BE34-539A6A83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29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894051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E90016B0-F792-4AFB-91B0-CB271CB44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6" name="Tytuł 1">
            <a:extLst>
              <a:ext uri="{FF2B5EF4-FFF2-40B4-BE49-F238E27FC236}">
                <a16:creationId xmlns:a16="http://schemas.microsoft.com/office/drawing/2014/main" id="{6631F9B5-EEE4-4E46-ADDD-598C0BEEB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369" y="687677"/>
            <a:ext cx="7260321" cy="1411351"/>
          </a:xfrm>
        </p:spPr>
        <p:txBody>
          <a:bodyPr/>
          <a:lstStyle/>
          <a:p>
            <a:r>
              <a:rPr lang="pl-PL" dirty="0"/>
              <a:t>Bayes’ </a:t>
            </a:r>
            <a:r>
              <a:rPr lang="pl-PL" dirty="0" err="1"/>
              <a:t>Theorem</a:t>
            </a:r>
            <a:r>
              <a:rPr lang="pl-PL" dirty="0"/>
              <a:t> </a:t>
            </a:r>
            <a:r>
              <a:rPr lang="pl-PL" dirty="0" err="1"/>
              <a:t>Example</a:t>
            </a:r>
            <a:endParaRPr lang="en-GB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1338BF1-A500-4752-9863-0E82B2B61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763" y="1621499"/>
            <a:ext cx="4932715" cy="955058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F56F6CF6-DA6D-4432-8AB6-0509E00E9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500" y="2785445"/>
            <a:ext cx="4127277" cy="716149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AA62BFE5-977F-4086-8449-8CCED44FF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000" y="3687547"/>
            <a:ext cx="7260321" cy="3164361"/>
          </a:xfrm>
          <a:prstGeom prst="rect">
            <a:avLst/>
          </a:prstGeom>
        </p:spPr>
      </p:pic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806C774A-D2CD-49D0-A29B-C0896FC7A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5815FF48-20EF-441D-BCC3-FFC4BEA5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30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923837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61BC-145D-713E-7202-570D2BF0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Another example</a:t>
            </a:r>
            <a:endParaRPr lang="en-GB" dirty="0"/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D8501EE-5192-A16A-7BB8-9DF856B2A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216" y="2122066"/>
            <a:ext cx="9335756" cy="316835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CDA91-50A0-43A6-06BA-713F52BE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 AGH University of Krakow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D6B0C-0308-E77D-888F-DDB335E2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7E14-8C57-4962-A746-FC114071AA6E}" type="slidenum">
              <a:rPr lang="en-US" altLang="pl-PL" smtClean="0"/>
              <a:pPr/>
              <a:t>31</a:t>
            </a:fld>
            <a:endParaRPr lang="en-US" altLang="pl-P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6F207-7126-D6E9-867C-70CACEA5CAFC}"/>
              </a:ext>
            </a:extLst>
          </p:cNvPr>
          <p:cNvSpPr txBox="1"/>
          <p:nvPr/>
        </p:nvSpPr>
        <p:spPr>
          <a:xfrm>
            <a:off x="7004744" y="5916401"/>
            <a:ext cx="2379819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Answer is 0.125…</a:t>
            </a:r>
            <a:endParaRPr lang="en-GB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79649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401832" y="1855195"/>
                <a:ext cx="9702478" cy="523658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Th</a:t>
                </a:r>
                <a:r>
                  <a:rPr lang="pl-PL" sz="1800" dirty="0" err="1"/>
                  <a:t>ere</a:t>
                </a:r>
                <a:r>
                  <a:rPr lang="pl-PL" sz="1800" dirty="0"/>
                  <a:t> </a:t>
                </a:r>
                <a:r>
                  <a:rPr lang="en-GB" sz="1800" dirty="0"/>
                  <a:t>is no surprise, we can have either a discrete or continuous RV</a:t>
                </a: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Now, let’s have a discrete RV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800" dirty="0"/>
                  <a:t> that can assume the following values: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dirty="0"/>
                  <a:t>. Suppose, these values are assumed with certain probabilities: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We can introduce </a:t>
                </a:r>
                <a:r>
                  <a:rPr lang="en-GB" sz="1800" b="1" dirty="0"/>
                  <a:t>probability function</a:t>
                </a:r>
                <a:r>
                  <a:rPr lang="en-GB" sz="1800" dirty="0"/>
                  <a:t>, that we call </a:t>
                </a:r>
                <a:r>
                  <a:rPr lang="en-GB" sz="1800" b="1" dirty="0"/>
                  <a:t>probability</a:t>
                </a:r>
                <a:r>
                  <a:rPr lang="en-GB" sz="1800" dirty="0"/>
                  <a:t> </a:t>
                </a:r>
                <a:r>
                  <a:rPr lang="en-GB" sz="1800" b="1" dirty="0"/>
                  <a:t>distribution</a:t>
                </a:r>
                <a:r>
                  <a:rPr lang="en-GB" sz="1800" dirty="0"/>
                  <a:t> for RV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In general, any function can be a probability function if: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Its values are always positive</a:t>
                </a:r>
                <a:r>
                  <a:rPr lang="pl-PL" sz="1800" dirty="0"/>
                  <a:t>: </a:t>
                </a:r>
                <a14:m>
                  <m:oMath xmlns:m="http://schemas.openxmlformats.org/officeDocument/2006/math">
                    <m:r>
                      <a:rPr lang="pl-PL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l-PL" sz="18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𝐗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m:rPr>
                        <m:nor/>
                      </m:rPr>
                      <a:rPr lang="el-GR" sz="1800" b="1" dirty="0">
                        <a:solidFill>
                          <a:srgbClr val="C00000"/>
                        </a:solidFill>
                      </a:rPr>
                      <m:t>Ω</m:t>
                    </m:r>
                  </m:oMath>
                </a14:m>
                <a:endParaRPr lang="pl-PL" sz="1800" b="1" dirty="0">
                  <a:solidFill>
                    <a:srgbClr val="C00000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l-PL" sz="1800" dirty="0"/>
                  <a:t>The sum </a:t>
                </a:r>
                <a:r>
                  <a:rPr lang="pl-PL" sz="1800" dirty="0" err="1"/>
                  <a:t>taken</a:t>
                </a:r>
                <a:r>
                  <a:rPr lang="pl-PL" sz="1800" dirty="0"/>
                  <a:t> </a:t>
                </a:r>
                <a:r>
                  <a:rPr lang="pl-PL" sz="1800" dirty="0" err="1"/>
                  <a:t>over</a:t>
                </a:r>
                <a:r>
                  <a:rPr lang="pl-PL" sz="1800" dirty="0"/>
                  <a:t> </a:t>
                </a:r>
                <a:r>
                  <a:rPr lang="pl-PL" sz="1800" dirty="0" err="1"/>
                  <a:t>all</a:t>
                </a:r>
                <a:r>
                  <a:rPr lang="pl-PL" sz="1800" dirty="0"/>
                  <a:t> </a:t>
                </a:r>
                <a:r>
                  <a:rPr lang="pl-PL" sz="1800" dirty="0" err="1"/>
                  <a:t>possible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pl-PL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  <m:sup/>
                      <m:e>
                        <m: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pl-PL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nary>
                  </m:oMath>
                </a14:m>
                <a:endParaRPr lang="pl-PL" sz="1800" b="1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It is easy to extend all of this to RV</a:t>
                </a:r>
                <a:r>
                  <a:rPr lang="pl-PL" sz="1800" dirty="0"/>
                  <a:t>s</a:t>
                </a:r>
                <a:r>
                  <a:rPr lang="en-GB" sz="1800" dirty="0"/>
                  <a:t> that are continuous, so we will not do that here (in principle we should remember that the sum changes into </a:t>
                </a:r>
                <a:r>
                  <a:rPr lang="pl-PL" sz="1800" dirty="0"/>
                  <a:t>the</a:t>
                </a:r>
                <a:r>
                  <a:rPr lang="en-GB" sz="1800" dirty="0"/>
                  <a:t> integral)</a:t>
                </a:r>
              </a:p>
            </p:txBody>
          </p:sp>
        </mc:Choice>
        <mc:Fallback>
          <p:sp>
            <p:nvSpPr>
              <p:cNvPr id="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01832" y="1855195"/>
                <a:ext cx="9702478" cy="5236582"/>
              </a:xfrm>
              <a:blipFill>
                <a:blip r:embed="rId3"/>
                <a:stretch>
                  <a:fillRect l="-377" t="-582" r="-5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ytuł 1"/>
          <p:cNvSpPr txBox="1">
            <a:spLocks/>
          </p:cNvSpPr>
          <p:nvPr/>
        </p:nvSpPr>
        <p:spPr>
          <a:xfrm>
            <a:off x="3428795" y="470532"/>
            <a:ext cx="8261773" cy="125941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l-PL" sz="4848" dirty="0">
                <a:effectLst/>
              </a:rPr>
              <a:t>Random</a:t>
            </a:r>
            <a:r>
              <a:rPr lang="pl-PL" sz="4848" dirty="0"/>
              <a:t> variables (I)</a:t>
            </a:r>
            <a:endParaRPr lang="en-GB" sz="484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/>
              <p:cNvSpPr txBox="1"/>
              <p:nvPr/>
            </p:nvSpPr>
            <p:spPr>
              <a:xfrm>
                <a:off x="3854970" y="3130178"/>
                <a:ext cx="3704711" cy="467992"/>
              </a:xfrm>
              <a:prstGeom prst="rect">
                <a:avLst/>
              </a:prstGeom>
              <a:noFill/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79333" tIns="79333" rIns="79333" bIns="79333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=1, 2, …, 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970" y="3130178"/>
                <a:ext cx="3704711" cy="467992"/>
              </a:xfrm>
              <a:prstGeom prst="rect">
                <a:avLst/>
              </a:prstGeom>
              <a:blipFill>
                <a:blip r:embed="rId4"/>
                <a:stretch>
                  <a:fillRect b="-4938"/>
                </a:stretch>
              </a:blipFill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85F8B27C-5CAC-345A-E808-EE15F2C5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32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256CD31-E59A-A669-7F59-B44F3BF8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25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744536" y="2149899"/>
                <a:ext cx="8261773" cy="5236582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331"/>
                  </a:spcBef>
                  <a:spcAft>
                    <a:spcPts val="331"/>
                  </a:spcAft>
                  <a:buNone/>
                </a:pPr>
                <a:r>
                  <a:rPr lang="pl-PL" sz="1800" b="1" dirty="0"/>
                  <a:t>Ex. 2</a:t>
                </a:r>
                <a:r>
                  <a:rPr lang="pl-PL" sz="1800" dirty="0"/>
                  <a:t> </a:t>
                </a:r>
                <a:r>
                  <a:rPr lang="en-GB" sz="1800" dirty="0"/>
                  <a:t>Again, let’s look at the double coin toss. How do we define the probability distribution function (P.D.F.)?</a:t>
                </a:r>
              </a:p>
              <a:p>
                <a:pPr marL="503238" lvl="1" indent="0" algn="just">
                  <a:lnSpc>
                    <a:spcPct val="100000"/>
                  </a:lnSpc>
                  <a:spcBef>
                    <a:spcPts val="331"/>
                  </a:spcBef>
                  <a:spcAft>
                    <a:spcPts val="331"/>
                  </a:spcAft>
                  <a:buNone/>
                </a:pPr>
                <a:r>
                  <a:rPr lang="en-GB" sz="1800" dirty="0"/>
                  <a:t> The sample space </a:t>
                </a:r>
                <a:r>
                  <a:rPr lang="el-GR" sz="1800" dirty="0"/>
                  <a:t>Ω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𝐻𝐻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𝐻𝑇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𝑇𝐻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𝑇𝑇</m:t>
                        </m:r>
                      </m:e>
                    </m:d>
                  </m:oMath>
                </a14:m>
                <a:r>
                  <a:rPr lang="pl-PL" sz="1800" dirty="0"/>
                  <a:t>, </a:t>
                </a:r>
                <a:r>
                  <a:rPr lang="en-GB" sz="1800" dirty="0"/>
                  <a:t>each of these events has the same probability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𝐻𝐻</m:t>
                        </m:r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𝐻𝑇</m:t>
                        </m:r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</a:rPr>
                      <m:t>=…=1/4</m:t>
                    </m:r>
                  </m:oMath>
                </a14:m>
                <a:endParaRPr lang="pl-PL" sz="1800" dirty="0"/>
              </a:p>
              <a:p>
                <a:pPr marL="503238" lvl="1" indent="0" algn="just">
                  <a:lnSpc>
                    <a:spcPct val="100000"/>
                  </a:lnSpc>
                  <a:spcBef>
                    <a:spcPts val="331"/>
                  </a:spcBef>
                  <a:spcAft>
                    <a:spcPts val="331"/>
                  </a:spcAft>
                  <a:buNone/>
                </a:pPr>
                <a:r>
                  <a:rPr lang="pl-PL" sz="1800" dirty="0"/>
                  <a:t> Using the Ex. 1 we </a:t>
                </a:r>
                <a:r>
                  <a:rPr lang="pl-PL" sz="1800" dirty="0" err="1"/>
                  <a:t>can</a:t>
                </a:r>
                <a:r>
                  <a:rPr lang="pl-PL" sz="1800" dirty="0"/>
                  <a:t> </a:t>
                </a:r>
                <a:r>
                  <a:rPr lang="pl-PL" sz="1800" dirty="0" err="1"/>
                  <a:t>write</a:t>
                </a:r>
                <a:r>
                  <a:rPr lang="pl-PL" sz="1800" dirty="0"/>
                  <a:t>: </a:t>
                </a:r>
                <a:endParaRPr lang="en-GB" sz="1800" dirty="0"/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4536" y="2149899"/>
                <a:ext cx="8261773" cy="5236582"/>
              </a:xfrm>
              <a:blipFill>
                <a:blip r:embed="rId3"/>
                <a:stretch>
                  <a:fillRect l="-590" t="-698" r="-66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ytuł 1"/>
          <p:cNvSpPr txBox="1">
            <a:spLocks/>
          </p:cNvSpPr>
          <p:nvPr/>
        </p:nvSpPr>
        <p:spPr>
          <a:xfrm>
            <a:off x="3428795" y="470532"/>
            <a:ext cx="8261773" cy="125941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l-PL" sz="4848" dirty="0"/>
              <a:t>Random variables (II)</a:t>
            </a:r>
            <a:endParaRPr lang="en-GB" sz="484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4257105" y="4042547"/>
                <a:ext cx="282705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𝑇𝑇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105" y="4042547"/>
                <a:ext cx="2827056" cy="307777"/>
              </a:xfrm>
              <a:prstGeom prst="rect">
                <a:avLst/>
              </a:prstGeom>
              <a:blipFill>
                <a:blip r:embed="rId4"/>
                <a:stretch>
                  <a:fillRect l="-1509" r="-1509" b="-372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/>
              <p:cNvSpPr txBox="1"/>
              <p:nvPr/>
            </p:nvSpPr>
            <p:spPr>
              <a:xfrm>
                <a:off x="4257105" y="4614303"/>
                <a:ext cx="34951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𝐻𝑇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𝑇𝐻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105" y="4614303"/>
                <a:ext cx="3495188" cy="307777"/>
              </a:xfrm>
              <a:prstGeom prst="rect">
                <a:avLst/>
              </a:prstGeom>
              <a:blipFill>
                <a:blip r:embed="rId5"/>
                <a:stretch>
                  <a:fillRect l="-1220" r="-1045" b="-38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/>
              <p:cNvSpPr txBox="1"/>
              <p:nvPr/>
            </p:nvSpPr>
            <p:spPr>
              <a:xfrm>
                <a:off x="4257106" y="5190906"/>
                <a:ext cx="28962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pole tekstow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106" y="5190906"/>
                <a:ext cx="2896242" cy="307777"/>
              </a:xfrm>
              <a:prstGeom prst="rect">
                <a:avLst/>
              </a:prstGeom>
              <a:blipFill>
                <a:blip r:embed="rId6"/>
                <a:stretch>
                  <a:fillRect l="-1474" r="-1684" b="-38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Obraz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9951" y="4295909"/>
            <a:ext cx="2466358" cy="944563"/>
          </a:xfrm>
          <a:prstGeom prst="rect">
            <a:avLst/>
          </a:prstGeom>
        </p:spPr>
      </p:pic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AC880379-755F-352C-2497-41A5BABF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33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46614EE-B99D-CC1D-1886-B5B36ED6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98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Distribution </a:t>
            </a:r>
            <a:r>
              <a:rPr lang="pl-PL" dirty="0" err="1"/>
              <a:t>function</a:t>
            </a:r>
            <a:r>
              <a:rPr lang="pl-PL" dirty="0"/>
              <a:t> (I)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108201" y="1636012"/>
                <a:ext cx="9414446" cy="5236582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Closely related to P.D.F. is the cumulative distribution function or just distribution function (DF)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We define it as follow</a:t>
                </a:r>
                <a:r>
                  <a:rPr lang="pl-PL" sz="1800" dirty="0"/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l-PL" sz="1800" dirty="0"/>
                  <a:t>The DF has the following properties: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must</a:t>
                </a:r>
                <a:r>
                  <a:rPr lang="pl-PL" sz="1800" dirty="0"/>
                  <a:t> be non-</a:t>
                </a:r>
                <a:r>
                  <a:rPr lang="pl-PL" sz="1800" dirty="0" err="1"/>
                  <a:t>decreasing</a:t>
                </a:r>
                <a:endParaRPr lang="pl-PL" sz="1800" dirty="0"/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endParaRPr lang="pl-PL" sz="1800" dirty="0"/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n-GB" sz="1800" dirty="0"/>
                  <a:t>Asymptotic behaviour</a:t>
                </a:r>
                <a:endParaRPr lang="pl-PL" sz="1800" dirty="0"/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endParaRPr lang="pl-PL" sz="1800" dirty="0"/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pl-PL" sz="1800" dirty="0"/>
                  <a:t>DF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continuous</a:t>
                </a:r>
                <a:r>
                  <a:rPr lang="pl-PL" sz="1800" dirty="0"/>
                  <a:t> from the </a:t>
                </a:r>
                <a:r>
                  <a:rPr lang="pl-PL" sz="1800" dirty="0" err="1"/>
                  <a:t>right</a:t>
                </a:r>
                <a:endParaRPr lang="en-GB" sz="1800" dirty="0"/>
              </a:p>
            </p:txBody>
          </p:sp>
        </mc:Choice>
        <mc:Fallback xmlns="">
          <p:sp>
            <p:nvSpPr>
              <p:cNvPr id="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8201" y="1636012"/>
                <a:ext cx="9414446" cy="5236582"/>
              </a:xfrm>
              <a:blipFill>
                <a:blip r:embed="rId2"/>
                <a:stretch>
                  <a:fillRect l="-453" t="-5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4988520" y="2551821"/>
                <a:ext cx="2723801" cy="567250"/>
              </a:xfrm>
              <a:prstGeom prst="rect">
                <a:avLst/>
              </a:prstGeom>
              <a:noFill/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79333" tIns="79333" rIns="79333" bIns="79333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645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64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64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64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645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64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645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520" y="2551821"/>
                <a:ext cx="2723801" cy="5672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/>
              <p:cNvSpPr txBox="1"/>
              <p:nvPr/>
            </p:nvSpPr>
            <p:spPr>
              <a:xfrm>
                <a:off x="4788866" y="4376005"/>
                <a:ext cx="2796470" cy="35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2645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866" y="4376005"/>
                <a:ext cx="2796470" cy="354584"/>
              </a:xfrm>
              <a:prstGeom prst="rect">
                <a:avLst/>
              </a:prstGeom>
              <a:blipFill>
                <a:blip r:embed="rId5"/>
                <a:stretch>
                  <a:fillRect l="-1528" r="-1092" b="-2413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/>
              <p:cNvSpPr txBox="1"/>
              <p:nvPr/>
            </p:nvSpPr>
            <p:spPr>
              <a:xfrm>
                <a:off x="4524402" y="5325898"/>
                <a:ext cx="3325398" cy="4005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func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func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1" name="pole tekstow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402" y="5325898"/>
                <a:ext cx="3325398" cy="400559"/>
              </a:xfrm>
              <a:prstGeom prst="rect">
                <a:avLst/>
              </a:prstGeom>
              <a:blipFill>
                <a:blip r:embed="rId6"/>
                <a:stretch>
                  <a:fillRect r="-1099" b="-1230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/>
              <p:cNvSpPr txBox="1"/>
              <p:nvPr/>
            </p:nvSpPr>
            <p:spPr>
              <a:xfrm>
                <a:off x="4439709" y="6336893"/>
                <a:ext cx="3426900" cy="409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func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2" name="pole tekstow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709" y="6336893"/>
                <a:ext cx="3426900" cy="409279"/>
              </a:xfrm>
              <a:prstGeom prst="rect">
                <a:avLst/>
              </a:prstGeom>
              <a:blipFill>
                <a:blip r:embed="rId7"/>
                <a:stretch>
                  <a:fillRect l="-534" r="-1246" b="-1641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D9331344-8E7A-599B-9CE4-DD767B0E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34</a:t>
            </a:fld>
            <a:endParaRPr lang="en-US" alt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7C67B24-BCA1-E29B-314E-8DA07B32C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52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Distribution </a:t>
            </a:r>
            <a:r>
              <a:rPr lang="pl-PL" dirty="0" err="1"/>
              <a:t>function</a:t>
            </a:r>
            <a:r>
              <a:rPr lang="pl-PL" dirty="0"/>
              <a:t> (II)</a:t>
            </a:r>
            <a:endParaRPr lang="en-GB" dirty="0"/>
          </a:p>
        </p:txBody>
      </p:sp>
      <p:sp>
        <p:nvSpPr>
          <p:cNvPr id="7" name="Rectangle 2"/>
          <p:cNvSpPr>
            <a:spLocks noGrp="1"/>
          </p:cNvSpPr>
          <p:nvPr>
            <p:ph idx="1"/>
          </p:nvPr>
        </p:nvSpPr>
        <p:spPr>
          <a:xfrm>
            <a:off x="2519428" y="2042635"/>
            <a:ext cx="8261773" cy="523658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331"/>
              </a:spcBef>
              <a:spcAft>
                <a:spcPts val="331"/>
              </a:spcAft>
              <a:buNone/>
            </a:pPr>
            <a:r>
              <a:rPr lang="pl-PL" sz="2204" b="1" dirty="0"/>
              <a:t>Ex. 4 </a:t>
            </a:r>
            <a:r>
              <a:rPr lang="en-GB" sz="2204" dirty="0"/>
              <a:t>Again, taking the two tosses example, we can work out the distribution function</a:t>
            </a:r>
            <a:r>
              <a:rPr lang="pl-PL" sz="2204" dirty="0"/>
              <a:t>.</a:t>
            </a:r>
            <a:endParaRPr lang="en-GB" sz="2204" dirty="0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/>
              <p:cNvSpPr txBox="1"/>
              <p:nvPr/>
            </p:nvSpPr>
            <p:spPr>
              <a:xfrm>
                <a:off x="2652224" y="3514571"/>
                <a:ext cx="2896626" cy="1803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0   −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∞&lt;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0≤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 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1≤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&lt;2  </m:t>
                              </m:r>
                            </m:e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       2≤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&lt;∞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8" name="pole tekstow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224" y="3514571"/>
                <a:ext cx="2896626" cy="18039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Obraz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757" y="2993178"/>
            <a:ext cx="2830084" cy="2930561"/>
          </a:xfrm>
          <a:prstGeom prst="rect">
            <a:avLst/>
          </a:prstGeom>
        </p:spPr>
      </p:pic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E1329EA4-B121-44D2-1C34-C55E9FF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35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090A566B-DA36-CDF2-4C5C-D9F41AB2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8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Continuous RV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252216" y="1656119"/>
                <a:ext cx="9397044" cy="5553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There is a natural extension to continuous RV, however the exact definition is based on the properties of the distribution function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b="1" dirty="0"/>
                  <a:t>Def.1 </a:t>
                </a:r>
                <a:r>
                  <a:rPr lang="en-GB" sz="1800" dirty="0"/>
                  <a:t>We say, that a non-discrete random variable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800" dirty="0"/>
                  <a:t> is </a:t>
                </a:r>
                <a:r>
                  <a:rPr lang="en-GB" sz="1800" dirty="0" err="1"/>
                  <a:t>continous</a:t>
                </a:r>
                <a:r>
                  <a:rPr lang="en-GB" sz="1800" dirty="0"/>
                  <a:t> if its distribution function may be represented as: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We know already, that the function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800" dirty="0"/>
                  <a:t> should represent a P.D.F</a:t>
                </a:r>
                <a:r>
                  <a:rPr lang="pl-PL" sz="1800" dirty="0"/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marL="376432" indent="-28575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/>
                  <a:t>There are some interesting properties related to the CRV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/>
                  <a:t>The probability that X takes on any one particular value is zero!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/>
                  <a:t>The interval probability can be estimated as:</a:t>
                </a:r>
              </a:p>
              <a:p>
                <a:pPr marL="90682" indent="0" algn="just">
                  <a:lnSpc>
                    <a:spcPct val="100000"/>
                  </a:lnSpc>
                  <a:spcBef>
                    <a:spcPts val="331"/>
                  </a:spcBef>
                  <a:buNone/>
                </a:pPr>
                <a:endParaRPr lang="pl-PL" sz="1983" dirty="0"/>
              </a:p>
            </p:txBody>
          </p:sp>
        </mc:Choice>
        <mc:Fallback xmlns="">
          <p:sp>
            <p:nvSpPr>
              <p:cNvPr id="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2216" y="1656119"/>
                <a:ext cx="9397044" cy="5553950"/>
              </a:xfrm>
              <a:blipFill>
                <a:blip r:embed="rId2"/>
                <a:stretch>
                  <a:fillRect l="-389" t="-65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/>
              <p:cNvSpPr txBox="1"/>
              <p:nvPr/>
            </p:nvSpPr>
            <p:spPr>
              <a:xfrm>
                <a:off x="3884337" y="3033023"/>
                <a:ext cx="5404772" cy="745227"/>
              </a:xfrm>
              <a:prstGeom prst="rect">
                <a:avLst/>
              </a:prstGeom>
              <a:noFill/>
              <a:ln w="22225">
                <a:solidFill>
                  <a:schemeClr val="accent3">
                    <a:lumMod val="75000"/>
                  </a:schemeClr>
                </a:solidFill>
              </a:ln>
            </p:spPr>
            <p:txBody>
              <a:bodyPr wrap="none" lIns="39667" tIns="39667" rIns="39667" bIns="39667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(−∞&lt;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&lt;∞)</m:t>
                      </m:r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337" y="3033023"/>
                <a:ext cx="5404772" cy="745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chemeClr val="accent3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/>
              <p:cNvSpPr txBox="1"/>
              <p:nvPr/>
            </p:nvSpPr>
            <p:spPr>
              <a:xfrm>
                <a:off x="3630916" y="4515186"/>
                <a:ext cx="10522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)≥0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pole tekstow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916" y="4515186"/>
                <a:ext cx="1052211" cy="307777"/>
              </a:xfrm>
              <a:prstGeom prst="rect">
                <a:avLst/>
              </a:prstGeom>
              <a:blipFill>
                <a:blip r:embed="rId5"/>
                <a:stretch>
                  <a:fillRect l="-8140" r="-4651" b="-4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/>
              <p:cNvSpPr txBox="1"/>
              <p:nvPr/>
            </p:nvSpPr>
            <p:spPr>
              <a:xfrm>
                <a:off x="5702570" y="4358588"/>
                <a:ext cx="1768305" cy="664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570" y="4358588"/>
                <a:ext cx="1768305" cy="6640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7453730" y="5959337"/>
                <a:ext cx="3020250" cy="698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730" y="5959337"/>
                <a:ext cx="3020250" cy="6981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ymbol zastępczy numeru slajdu 9">
            <a:extLst>
              <a:ext uri="{FF2B5EF4-FFF2-40B4-BE49-F238E27FC236}">
                <a16:creationId xmlns:a16="http://schemas.microsoft.com/office/drawing/2014/main" id="{A9F40632-3092-2E09-C4DE-594A0220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36</a:t>
            </a:fld>
            <a:endParaRPr lang="en-US" altLang="pl-PL"/>
          </a:p>
        </p:txBody>
      </p:sp>
      <p:sp>
        <p:nvSpPr>
          <p:cNvPr id="11" name="Symbol zastępczy stopki 10">
            <a:extLst>
              <a:ext uri="{FF2B5EF4-FFF2-40B4-BE49-F238E27FC236}">
                <a16:creationId xmlns:a16="http://schemas.microsoft.com/office/drawing/2014/main" id="{268DADB9-AB68-9767-C2DF-CFDBBCD9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0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Graphical</a:t>
            </a:r>
            <a:r>
              <a:rPr lang="pl-PL" dirty="0"/>
              <a:t> </a:t>
            </a:r>
            <a:r>
              <a:rPr lang="pl-PL" dirty="0" err="1"/>
              <a:t>interpretation</a:t>
            </a:r>
            <a:endParaRPr lang="en-GB" dirty="0"/>
          </a:p>
        </p:txBody>
      </p:sp>
      <p:sp>
        <p:nvSpPr>
          <p:cNvPr id="7" name="Rectangle 2"/>
          <p:cNvSpPr>
            <a:spLocks noGrp="1"/>
          </p:cNvSpPr>
          <p:nvPr>
            <p:ph idx="1"/>
          </p:nvPr>
        </p:nvSpPr>
        <p:spPr>
          <a:xfrm>
            <a:off x="2324224" y="1862138"/>
            <a:ext cx="9198422" cy="523658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31"/>
              </a:spcBef>
            </a:pPr>
            <a:r>
              <a:rPr lang="en-US" sz="1800" dirty="0"/>
              <a:t>Let f(x) be the </a:t>
            </a:r>
            <a:r>
              <a:rPr lang="en-US" sz="1800" b="1" dirty="0"/>
              <a:t>density function </a:t>
            </a:r>
            <a:r>
              <a:rPr lang="en-US" sz="1800" dirty="0"/>
              <a:t>for a random variable X. This function can be represented as a graph by some curve</a:t>
            </a:r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r>
              <a:rPr lang="en-GB" sz="1800" dirty="0"/>
              <a:t>The </a:t>
            </a:r>
            <a:r>
              <a:rPr lang="en-GB" sz="1800" b="1" dirty="0"/>
              <a:t>distribution function </a:t>
            </a:r>
            <a:r>
              <a:rPr lang="en-GB" sz="1800" dirty="0"/>
              <a:t>is, in turn, a monotonically increasing function which</a:t>
            </a:r>
            <a:r>
              <a:rPr lang="pl-PL" sz="1800" dirty="0"/>
              <a:t> </a:t>
            </a:r>
            <a:r>
              <a:rPr lang="pl-PL" sz="1800" dirty="0" err="1"/>
              <a:t>value</a:t>
            </a:r>
            <a:r>
              <a:rPr lang="en-GB" sz="1800" dirty="0"/>
              <a:t> </a:t>
            </a:r>
            <a:r>
              <a:rPr lang="pl-PL" sz="1800" dirty="0" err="1"/>
              <a:t>goes</a:t>
            </a:r>
            <a:r>
              <a:rPr lang="en-GB" sz="1800" dirty="0"/>
              <a:t> from 0 to 1</a:t>
            </a:r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pic>
        <p:nvPicPr>
          <p:cNvPr id="13" name="Obraz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763" y="2449770"/>
            <a:ext cx="3617653" cy="1832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rostokąt 13"/>
              <p:cNvSpPr/>
              <p:nvPr/>
            </p:nvSpPr>
            <p:spPr>
              <a:xfrm>
                <a:off x="7724824" y="2596451"/>
                <a:ext cx="174740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4" name="Prostoką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824" y="2596451"/>
                <a:ext cx="1747401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wolny kształt: kształt 14"/>
          <p:cNvSpPr/>
          <p:nvPr/>
        </p:nvSpPr>
        <p:spPr>
          <a:xfrm>
            <a:off x="7033298" y="2929964"/>
            <a:ext cx="505012" cy="195477"/>
          </a:xfrm>
          <a:custGeom>
            <a:avLst/>
            <a:gdLst>
              <a:gd name="connsiteX0" fmla="*/ 294640 w 294640"/>
              <a:gd name="connsiteY0" fmla="*/ 0 h 264160"/>
              <a:gd name="connsiteX1" fmla="*/ 0 w 294640"/>
              <a:gd name="connsiteY1" fmla="*/ 264160 h 26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4640" h="264160">
                <a:moveTo>
                  <a:pt x="294640" y="0"/>
                </a:moveTo>
                <a:lnTo>
                  <a:pt x="0" y="264160"/>
                </a:ln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645"/>
          </a:p>
        </p:txBody>
      </p:sp>
      <p:pic>
        <p:nvPicPr>
          <p:cNvPr id="16" name="Obraz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480" y="4869599"/>
            <a:ext cx="3910754" cy="2011245"/>
          </a:xfrm>
          <a:prstGeom prst="rect">
            <a:avLst/>
          </a:prstGeom>
        </p:spPr>
      </p:pic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AF7ECCA3-4EE8-6D90-7F33-233F6070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37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60DD947-8447-B7B0-368F-C198AD9C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67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401832" y="1855195"/>
                <a:ext cx="9702478" cy="523658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Th</a:t>
                </a:r>
                <a:r>
                  <a:rPr lang="pl-PL" sz="1800" dirty="0" err="1"/>
                  <a:t>ere</a:t>
                </a:r>
                <a:r>
                  <a:rPr lang="pl-PL" sz="1800" dirty="0"/>
                  <a:t> </a:t>
                </a:r>
                <a:r>
                  <a:rPr lang="en-GB" sz="1800" dirty="0"/>
                  <a:t>is no surprise, we can have either discrete or continuous RV</a:t>
                </a: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Now, let’s have a discrete RV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800" dirty="0"/>
                  <a:t> that can assume the following values: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dirty="0"/>
                  <a:t>. Suppose, these values are assumed with certain probabilities: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We can introduce </a:t>
                </a:r>
                <a:r>
                  <a:rPr lang="en-GB" sz="1800" b="1" dirty="0"/>
                  <a:t>probability function</a:t>
                </a:r>
                <a:r>
                  <a:rPr lang="en-GB" sz="1800" dirty="0"/>
                  <a:t>, that we call </a:t>
                </a:r>
                <a:r>
                  <a:rPr lang="en-GB" sz="1800" b="1" dirty="0"/>
                  <a:t>probability</a:t>
                </a:r>
                <a:r>
                  <a:rPr lang="en-GB" sz="1800" dirty="0"/>
                  <a:t> </a:t>
                </a:r>
                <a:r>
                  <a:rPr lang="en-GB" sz="1800" b="1" dirty="0"/>
                  <a:t>distribution</a:t>
                </a:r>
                <a:r>
                  <a:rPr lang="en-GB" sz="1800" dirty="0"/>
                  <a:t> for RV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In general, any function can be a probability function if: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Its values are always positive</a:t>
                </a:r>
                <a:r>
                  <a:rPr lang="pl-PL" sz="1800" dirty="0"/>
                  <a:t>: </a:t>
                </a:r>
                <a14:m>
                  <m:oMath xmlns:m="http://schemas.openxmlformats.org/officeDocument/2006/math">
                    <m:r>
                      <a:rPr lang="pl-PL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l-PL" sz="18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𝐗</m:t>
                    </m:r>
                    <m:r>
                      <a:rPr lang="pl-PL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m:rPr>
                        <m:nor/>
                      </m:rPr>
                      <a:rPr lang="el-GR" sz="1800" b="1" dirty="0">
                        <a:solidFill>
                          <a:srgbClr val="C00000"/>
                        </a:solidFill>
                      </a:rPr>
                      <m:t>Ω</m:t>
                    </m:r>
                  </m:oMath>
                </a14:m>
                <a:endParaRPr lang="pl-PL" sz="1800" b="1" dirty="0">
                  <a:solidFill>
                    <a:srgbClr val="C00000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l-PL" sz="1800" dirty="0"/>
                  <a:t>The sum </a:t>
                </a:r>
                <a:r>
                  <a:rPr lang="pl-PL" sz="1800" dirty="0" err="1"/>
                  <a:t>taken</a:t>
                </a:r>
                <a:r>
                  <a:rPr lang="pl-PL" sz="1800" dirty="0"/>
                  <a:t> </a:t>
                </a:r>
                <a:r>
                  <a:rPr lang="pl-PL" sz="1800" dirty="0" err="1"/>
                  <a:t>over</a:t>
                </a:r>
                <a:r>
                  <a:rPr lang="pl-PL" sz="1800" dirty="0"/>
                  <a:t> </a:t>
                </a:r>
                <a:r>
                  <a:rPr lang="pl-PL" sz="1800" dirty="0" err="1"/>
                  <a:t>all</a:t>
                </a:r>
                <a:r>
                  <a:rPr lang="pl-PL" sz="1800" dirty="0"/>
                  <a:t> </a:t>
                </a:r>
                <a:r>
                  <a:rPr lang="pl-PL" sz="1800" dirty="0" err="1"/>
                  <a:t>possible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pl-PL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  <m:sup/>
                      <m:e>
                        <m: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pl-PL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l-PL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nary>
                  </m:oMath>
                </a14:m>
                <a:endParaRPr lang="pl-PL" sz="1800" b="1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It is easy to extend all of this to RV</a:t>
                </a:r>
                <a:r>
                  <a:rPr lang="pl-PL" sz="1800" dirty="0"/>
                  <a:t>s</a:t>
                </a:r>
                <a:r>
                  <a:rPr lang="en-GB" sz="1800" dirty="0"/>
                  <a:t> that are continuous, so we will not do that here (in principle we should remember that the sum changes into </a:t>
                </a:r>
                <a:r>
                  <a:rPr lang="pl-PL" sz="1800" dirty="0"/>
                  <a:t>the</a:t>
                </a:r>
                <a:r>
                  <a:rPr lang="en-GB" sz="1800" dirty="0"/>
                  <a:t> integral)</a:t>
                </a:r>
              </a:p>
            </p:txBody>
          </p:sp>
        </mc:Choice>
        <mc:Fallback xmlns="">
          <p:sp>
            <p:nvSpPr>
              <p:cNvPr id="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01832" y="1855195"/>
                <a:ext cx="9702478" cy="5236582"/>
              </a:xfrm>
              <a:blipFill>
                <a:blip r:embed="rId3"/>
                <a:stretch>
                  <a:fillRect l="-377" t="-582" r="-50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ytuł 1"/>
          <p:cNvSpPr txBox="1">
            <a:spLocks/>
          </p:cNvSpPr>
          <p:nvPr/>
        </p:nvSpPr>
        <p:spPr>
          <a:xfrm>
            <a:off x="3428795" y="470532"/>
            <a:ext cx="8261773" cy="125941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l-PL" sz="4848" dirty="0" err="1">
                <a:effectLst/>
              </a:rPr>
              <a:t>Random</a:t>
            </a:r>
            <a:r>
              <a:rPr lang="pl-PL" sz="4848" dirty="0"/>
              <a:t> </a:t>
            </a:r>
            <a:r>
              <a:rPr lang="pl-PL" sz="4848" dirty="0" err="1"/>
              <a:t>variables</a:t>
            </a:r>
            <a:r>
              <a:rPr lang="pl-PL" sz="4848" dirty="0"/>
              <a:t> (II)</a:t>
            </a:r>
            <a:endParaRPr lang="en-GB" sz="484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/>
              <p:cNvSpPr txBox="1"/>
              <p:nvPr/>
            </p:nvSpPr>
            <p:spPr>
              <a:xfrm>
                <a:off x="3854970" y="3130178"/>
                <a:ext cx="3704711" cy="467992"/>
              </a:xfrm>
              <a:prstGeom prst="rect">
                <a:avLst/>
              </a:prstGeom>
              <a:noFill/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79333" tIns="79333" rIns="79333" bIns="79333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=1, 2, …, 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970" y="3130178"/>
                <a:ext cx="3704711" cy="467992"/>
              </a:xfrm>
              <a:prstGeom prst="rect">
                <a:avLst/>
              </a:prstGeom>
              <a:blipFill>
                <a:blip r:embed="rId4"/>
                <a:stretch>
                  <a:fillRect b="-4938"/>
                </a:stretch>
              </a:blipFill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85F8B27C-5CAC-345A-E808-EE15F2C5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38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256CD31-E59A-A669-7F59-B44F3BF8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36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744536" y="2149899"/>
                <a:ext cx="8261773" cy="5236582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331"/>
                  </a:spcBef>
                  <a:spcAft>
                    <a:spcPts val="331"/>
                  </a:spcAft>
                  <a:buNone/>
                </a:pPr>
                <a:r>
                  <a:rPr lang="pl-PL" sz="1800" b="1" dirty="0"/>
                  <a:t>Ex. 2</a:t>
                </a:r>
                <a:r>
                  <a:rPr lang="pl-PL" sz="1800" dirty="0"/>
                  <a:t> </a:t>
                </a:r>
                <a:r>
                  <a:rPr lang="en-GB" sz="1800" dirty="0"/>
                  <a:t>Again, let’s look at the double coin toss. How do we define the probability distribution function (P.D.F.)?</a:t>
                </a:r>
              </a:p>
              <a:p>
                <a:pPr marL="503238" lvl="1" indent="0" algn="just">
                  <a:lnSpc>
                    <a:spcPct val="100000"/>
                  </a:lnSpc>
                  <a:spcBef>
                    <a:spcPts val="331"/>
                  </a:spcBef>
                  <a:spcAft>
                    <a:spcPts val="331"/>
                  </a:spcAft>
                  <a:buNone/>
                </a:pPr>
                <a:r>
                  <a:rPr lang="en-GB" sz="1800" dirty="0"/>
                  <a:t> The sample space </a:t>
                </a:r>
                <a:r>
                  <a:rPr lang="el-GR" sz="1800" dirty="0"/>
                  <a:t>Ω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𝐻𝐻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𝐻𝑇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𝑇𝐻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𝑇𝑇</m:t>
                        </m:r>
                      </m:e>
                    </m:d>
                  </m:oMath>
                </a14:m>
                <a:r>
                  <a:rPr lang="pl-PL" sz="1800" dirty="0"/>
                  <a:t>, </a:t>
                </a:r>
                <a:r>
                  <a:rPr lang="en-GB" sz="1800" dirty="0"/>
                  <a:t>each of these events has the same probability </a:t>
                </a: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𝐻𝐻</m:t>
                        </m:r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𝐻𝑇</m:t>
                        </m:r>
                      </m:e>
                    </m:d>
                    <m:r>
                      <a:rPr lang="pl-PL" sz="1800" i="1">
                        <a:latin typeface="Cambria Math" panose="02040503050406030204" pitchFamily="18" charset="0"/>
                      </a:rPr>
                      <m:t>=…=1/4</m:t>
                    </m:r>
                  </m:oMath>
                </a14:m>
                <a:endParaRPr lang="pl-PL" sz="1800" dirty="0"/>
              </a:p>
              <a:p>
                <a:pPr marL="503238" lvl="1" indent="0" algn="just">
                  <a:lnSpc>
                    <a:spcPct val="100000"/>
                  </a:lnSpc>
                  <a:spcBef>
                    <a:spcPts val="331"/>
                  </a:spcBef>
                  <a:spcAft>
                    <a:spcPts val="331"/>
                  </a:spcAft>
                  <a:buNone/>
                </a:pPr>
                <a:r>
                  <a:rPr lang="pl-PL" sz="1800" dirty="0"/>
                  <a:t> Using the Ex. 1 we </a:t>
                </a:r>
                <a:r>
                  <a:rPr lang="pl-PL" sz="1800" dirty="0" err="1"/>
                  <a:t>can</a:t>
                </a:r>
                <a:r>
                  <a:rPr lang="pl-PL" sz="1800" dirty="0"/>
                  <a:t> </a:t>
                </a:r>
                <a:r>
                  <a:rPr lang="pl-PL" sz="1800" dirty="0" err="1"/>
                  <a:t>write</a:t>
                </a:r>
                <a:r>
                  <a:rPr lang="pl-PL" sz="1800" dirty="0"/>
                  <a:t>: </a:t>
                </a:r>
                <a:endParaRPr lang="en-GB" sz="1800" dirty="0"/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4536" y="2149899"/>
                <a:ext cx="8261773" cy="5236582"/>
              </a:xfrm>
              <a:blipFill>
                <a:blip r:embed="rId3"/>
                <a:stretch>
                  <a:fillRect l="-590" t="-698" r="-66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ytuł 1"/>
          <p:cNvSpPr txBox="1">
            <a:spLocks/>
          </p:cNvSpPr>
          <p:nvPr/>
        </p:nvSpPr>
        <p:spPr>
          <a:xfrm>
            <a:off x="3428795" y="470532"/>
            <a:ext cx="8261773" cy="125941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l-PL" sz="4848" dirty="0" err="1"/>
              <a:t>Random</a:t>
            </a:r>
            <a:r>
              <a:rPr lang="pl-PL" sz="4848" dirty="0"/>
              <a:t> </a:t>
            </a:r>
            <a:r>
              <a:rPr lang="pl-PL" sz="4848" dirty="0" err="1"/>
              <a:t>variables</a:t>
            </a:r>
            <a:r>
              <a:rPr lang="pl-PL" sz="4848" dirty="0"/>
              <a:t> (III)</a:t>
            </a:r>
            <a:endParaRPr lang="en-GB" sz="484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4257105" y="4042547"/>
                <a:ext cx="282705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𝑇𝑇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105" y="4042547"/>
                <a:ext cx="2827056" cy="307777"/>
              </a:xfrm>
              <a:prstGeom prst="rect">
                <a:avLst/>
              </a:prstGeom>
              <a:blipFill>
                <a:blip r:embed="rId4"/>
                <a:stretch>
                  <a:fillRect l="-1509" r="-1509" b="-372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/>
              <p:cNvSpPr txBox="1"/>
              <p:nvPr/>
            </p:nvSpPr>
            <p:spPr>
              <a:xfrm>
                <a:off x="4257105" y="4614303"/>
                <a:ext cx="34951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𝐻𝑇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𝑇𝐻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105" y="4614303"/>
                <a:ext cx="3495188" cy="307777"/>
              </a:xfrm>
              <a:prstGeom prst="rect">
                <a:avLst/>
              </a:prstGeom>
              <a:blipFill>
                <a:blip r:embed="rId5"/>
                <a:stretch>
                  <a:fillRect l="-1220" r="-1045" b="-38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/>
              <p:cNvSpPr txBox="1"/>
              <p:nvPr/>
            </p:nvSpPr>
            <p:spPr>
              <a:xfrm>
                <a:off x="4257106" y="5190906"/>
                <a:ext cx="28962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pole tekstow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106" y="5190906"/>
                <a:ext cx="2896242" cy="307777"/>
              </a:xfrm>
              <a:prstGeom prst="rect">
                <a:avLst/>
              </a:prstGeom>
              <a:blipFill>
                <a:blip r:embed="rId6"/>
                <a:stretch>
                  <a:fillRect l="-1474" r="-1684" b="-38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Obraz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9951" y="4295909"/>
            <a:ext cx="2466358" cy="944563"/>
          </a:xfrm>
          <a:prstGeom prst="rect">
            <a:avLst/>
          </a:prstGeom>
        </p:spPr>
      </p:pic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AC880379-755F-352C-2497-41A5BABF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39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46614EE-B99D-CC1D-1886-B5B36ED6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608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Distribution </a:t>
            </a:r>
            <a:r>
              <a:rPr lang="pl-PL" dirty="0" err="1"/>
              <a:t>function</a:t>
            </a:r>
            <a:r>
              <a:rPr lang="pl-PL" dirty="0"/>
              <a:t> (I)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108201" y="1636012"/>
                <a:ext cx="9414446" cy="5236582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Closely related to P.D.F. is the cumulative distribution function or just distribution function (DF)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We define it as follow</a:t>
                </a:r>
                <a:r>
                  <a:rPr lang="pl-PL" sz="1800" dirty="0"/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l-PL" sz="1800" dirty="0"/>
                  <a:t>The DF has the following properties: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pl-PL" sz="18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pl-PL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pl-PL" sz="1800" dirty="0"/>
                  <a:t> </a:t>
                </a:r>
                <a:r>
                  <a:rPr lang="pl-PL" sz="1800" dirty="0" err="1"/>
                  <a:t>must</a:t>
                </a:r>
                <a:r>
                  <a:rPr lang="pl-PL" sz="1800" dirty="0"/>
                  <a:t> be non-</a:t>
                </a:r>
                <a:r>
                  <a:rPr lang="pl-PL" sz="1800" dirty="0" err="1"/>
                  <a:t>decreasing</a:t>
                </a:r>
                <a:endParaRPr lang="pl-PL" sz="1800" dirty="0"/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endParaRPr lang="pl-PL" sz="1800" dirty="0"/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n-GB" sz="1800" dirty="0"/>
                  <a:t>Asymptotic behaviour</a:t>
                </a:r>
                <a:endParaRPr lang="pl-PL" sz="1800" dirty="0"/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endParaRPr lang="pl-PL" sz="1800" dirty="0"/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pl-PL" sz="1800" dirty="0"/>
                  <a:t>DF </a:t>
                </a:r>
                <a:r>
                  <a:rPr lang="pl-PL" sz="1800" dirty="0" err="1"/>
                  <a:t>is</a:t>
                </a:r>
                <a:r>
                  <a:rPr lang="pl-PL" sz="1800" dirty="0"/>
                  <a:t> </a:t>
                </a:r>
                <a:r>
                  <a:rPr lang="pl-PL" sz="1800" dirty="0" err="1"/>
                  <a:t>continuous</a:t>
                </a:r>
                <a:r>
                  <a:rPr lang="pl-PL" sz="1800" dirty="0"/>
                  <a:t> from the </a:t>
                </a:r>
                <a:r>
                  <a:rPr lang="pl-PL" sz="1800" dirty="0" err="1"/>
                  <a:t>right</a:t>
                </a:r>
                <a:endParaRPr lang="en-GB" sz="1800" dirty="0"/>
              </a:p>
            </p:txBody>
          </p:sp>
        </mc:Choice>
        <mc:Fallback xmlns="">
          <p:sp>
            <p:nvSpPr>
              <p:cNvPr id="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8201" y="1636012"/>
                <a:ext cx="9414446" cy="5236582"/>
              </a:xfrm>
              <a:blipFill>
                <a:blip r:embed="rId2"/>
                <a:stretch>
                  <a:fillRect l="-453" t="-5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4988520" y="2551821"/>
                <a:ext cx="2723801" cy="567250"/>
              </a:xfrm>
              <a:prstGeom prst="rect">
                <a:avLst/>
              </a:prstGeom>
              <a:noFill/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79333" tIns="79333" rIns="79333" bIns="79333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645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64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64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64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645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64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645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64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520" y="2551821"/>
                <a:ext cx="2723801" cy="5672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/>
              <p:cNvSpPr txBox="1"/>
              <p:nvPr/>
            </p:nvSpPr>
            <p:spPr>
              <a:xfrm>
                <a:off x="4788866" y="4376005"/>
                <a:ext cx="2796470" cy="35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2645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866" y="4376005"/>
                <a:ext cx="2796470" cy="354584"/>
              </a:xfrm>
              <a:prstGeom prst="rect">
                <a:avLst/>
              </a:prstGeom>
              <a:blipFill>
                <a:blip r:embed="rId5"/>
                <a:stretch>
                  <a:fillRect l="-1528" r="-1092" b="-2413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/>
              <p:cNvSpPr txBox="1"/>
              <p:nvPr/>
            </p:nvSpPr>
            <p:spPr>
              <a:xfrm>
                <a:off x="4524402" y="5325898"/>
                <a:ext cx="3325398" cy="4005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func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func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1" name="pole tekstow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402" y="5325898"/>
                <a:ext cx="3325398" cy="400559"/>
              </a:xfrm>
              <a:prstGeom prst="rect">
                <a:avLst/>
              </a:prstGeom>
              <a:blipFill>
                <a:blip r:embed="rId6"/>
                <a:stretch>
                  <a:fillRect r="-1099" b="-1230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/>
              <p:cNvSpPr txBox="1"/>
              <p:nvPr/>
            </p:nvSpPr>
            <p:spPr>
              <a:xfrm>
                <a:off x="4439709" y="6336893"/>
                <a:ext cx="3426900" cy="409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func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2" name="pole tekstow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709" y="6336893"/>
                <a:ext cx="3426900" cy="409279"/>
              </a:xfrm>
              <a:prstGeom prst="rect">
                <a:avLst/>
              </a:prstGeom>
              <a:blipFill>
                <a:blip r:embed="rId7"/>
                <a:stretch>
                  <a:fillRect l="-534" r="-1246" b="-1641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D9331344-8E7A-599B-9CE4-DD767B0E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40</a:t>
            </a:fld>
            <a:endParaRPr lang="en-US" alt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7C67B24-BCA1-E29B-314E-8DA07B32C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94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Distribution </a:t>
            </a:r>
            <a:r>
              <a:rPr lang="pl-PL" dirty="0" err="1"/>
              <a:t>function</a:t>
            </a:r>
            <a:r>
              <a:rPr lang="pl-PL" dirty="0"/>
              <a:t> (II)</a:t>
            </a:r>
            <a:endParaRPr lang="en-GB" dirty="0"/>
          </a:p>
        </p:txBody>
      </p:sp>
      <p:sp>
        <p:nvSpPr>
          <p:cNvPr id="7" name="Rectangle 2"/>
          <p:cNvSpPr>
            <a:spLocks noGrp="1"/>
          </p:cNvSpPr>
          <p:nvPr>
            <p:ph idx="1"/>
          </p:nvPr>
        </p:nvSpPr>
        <p:spPr>
          <a:xfrm>
            <a:off x="2519428" y="2042635"/>
            <a:ext cx="8261773" cy="523658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331"/>
              </a:spcBef>
              <a:spcAft>
                <a:spcPts val="331"/>
              </a:spcAft>
              <a:buNone/>
            </a:pPr>
            <a:r>
              <a:rPr lang="pl-PL" sz="2204" b="1" dirty="0"/>
              <a:t>Ex. 4 </a:t>
            </a:r>
            <a:r>
              <a:rPr lang="en-GB" sz="2204" dirty="0"/>
              <a:t>Again, taking the two tosses example, we can work out the distribution function</a:t>
            </a:r>
            <a:r>
              <a:rPr lang="pl-PL" sz="2204" dirty="0"/>
              <a:t>.</a:t>
            </a:r>
            <a:endParaRPr lang="en-GB" sz="2204" dirty="0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/>
              <p:cNvSpPr txBox="1"/>
              <p:nvPr/>
            </p:nvSpPr>
            <p:spPr>
              <a:xfrm>
                <a:off x="2652224" y="3514571"/>
                <a:ext cx="2896626" cy="1803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0   −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∞&lt;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0≤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 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l-P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1≤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&lt;2  </m:t>
                              </m:r>
                            </m:e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       2≤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&lt;∞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8" name="pole tekstow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224" y="3514571"/>
                <a:ext cx="2896626" cy="18039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Obraz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757" y="2993178"/>
            <a:ext cx="2830084" cy="2930561"/>
          </a:xfrm>
          <a:prstGeom prst="rect">
            <a:avLst/>
          </a:prstGeom>
        </p:spPr>
      </p:pic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E1329EA4-B121-44D2-1C34-C55E9FF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41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090A566B-DA36-CDF2-4C5C-D9F41AB2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17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Continuous RV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252216" y="1656119"/>
                <a:ext cx="9397044" cy="5553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There is a natural extension to continuous RV, however the exact definition is based on the properties of the distribution function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b="1" dirty="0"/>
                  <a:t>Def.1 </a:t>
                </a:r>
                <a:r>
                  <a:rPr lang="en-GB" sz="1800" dirty="0"/>
                  <a:t>We say, that a non-discrete random variable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800" dirty="0"/>
                  <a:t> is </a:t>
                </a:r>
                <a:r>
                  <a:rPr lang="en-GB" sz="1800" dirty="0" err="1"/>
                  <a:t>continous</a:t>
                </a:r>
                <a:r>
                  <a:rPr lang="en-GB" sz="1800" dirty="0"/>
                  <a:t> if its distribution function may be represented as: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800" dirty="0"/>
                  <a:t>We know already, that the function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800" dirty="0"/>
                  <a:t> should represent a P.D.F</a:t>
                </a:r>
                <a:r>
                  <a:rPr lang="pl-PL" sz="1800" dirty="0"/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marL="376432" indent="-28575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pl-PL" sz="1800" dirty="0"/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/>
                  <a:t>There are some interesting properties related to the CRV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/>
                  <a:t>The probability that X takes on any one particular value is zero!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/>
                  <a:t>The interval probability can be estimated as:</a:t>
                </a:r>
              </a:p>
              <a:p>
                <a:pPr marL="90682" indent="0" algn="just">
                  <a:lnSpc>
                    <a:spcPct val="100000"/>
                  </a:lnSpc>
                  <a:spcBef>
                    <a:spcPts val="331"/>
                  </a:spcBef>
                  <a:buNone/>
                </a:pPr>
                <a:endParaRPr lang="pl-PL" sz="1983" dirty="0"/>
              </a:p>
            </p:txBody>
          </p:sp>
        </mc:Choice>
        <mc:Fallback xmlns="">
          <p:sp>
            <p:nvSpPr>
              <p:cNvPr id="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2216" y="1656119"/>
                <a:ext cx="9397044" cy="5553950"/>
              </a:xfrm>
              <a:blipFill>
                <a:blip r:embed="rId2"/>
                <a:stretch>
                  <a:fillRect l="-389" t="-65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/>
              <p:cNvSpPr txBox="1"/>
              <p:nvPr/>
            </p:nvSpPr>
            <p:spPr>
              <a:xfrm>
                <a:off x="3884337" y="3033023"/>
                <a:ext cx="5404772" cy="745227"/>
              </a:xfrm>
              <a:prstGeom prst="rect">
                <a:avLst/>
              </a:prstGeom>
              <a:noFill/>
              <a:ln w="22225">
                <a:solidFill>
                  <a:schemeClr val="accent3">
                    <a:lumMod val="75000"/>
                  </a:schemeClr>
                </a:solidFill>
              </a:ln>
            </p:spPr>
            <p:txBody>
              <a:bodyPr wrap="none" lIns="39667" tIns="39667" rIns="39667" bIns="39667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(−∞&lt;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&lt;∞)</m:t>
                      </m:r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337" y="3033023"/>
                <a:ext cx="5404772" cy="745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chemeClr val="accent3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/>
              <p:cNvSpPr txBox="1"/>
              <p:nvPr/>
            </p:nvSpPr>
            <p:spPr>
              <a:xfrm>
                <a:off x="3630916" y="4515186"/>
                <a:ext cx="10522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)≥0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pole tekstow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916" y="4515186"/>
                <a:ext cx="1052211" cy="307777"/>
              </a:xfrm>
              <a:prstGeom prst="rect">
                <a:avLst/>
              </a:prstGeom>
              <a:blipFill>
                <a:blip r:embed="rId5"/>
                <a:stretch>
                  <a:fillRect l="-8140" r="-4651" b="-4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/>
              <p:cNvSpPr txBox="1"/>
              <p:nvPr/>
            </p:nvSpPr>
            <p:spPr>
              <a:xfrm>
                <a:off x="5702570" y="4358588"/>
                <a:ext cx="1768305" cy="664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570" y="4358588"/>
                <a:ext cx="1768305" cy="6640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7453730" y="5959337"/>
                <a:ext cx="3020250" cy="698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730" y="5959337"/>
                <a:ext cx="3020250" cy="6981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ymbol zastępczy numeru slajdu 9">
            <a:extLst>
              <a:ext uri="{FF2B5EF4-FFF2-40B4-BE49-F238E27FC236}">
                <a16:creationId xmlns:a16="http://schemas.microsoft.com/office/drawing/2014/main" id="{A9F40632-3092-2E09-C4DE-594A0220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42</a:t>
            </a:fld>
            <a:endParaRPr lang="en-US" altLang="pl-PL"/>
          </a:p>
        </p:txBody>
      </p:sp>
      <p:sp>
        <p:nvSpPr>
          <p:cNvPr id="11" name="Symbol zastępczy stopki 10">
            <a:extLst>
              <a:ext uri="{FF2B5EF4-FFF2-40B4-BE49-F238E27FC236}">
                <a16:creationId xmlns:a16="http://schemas.microsoft.com/office/drawing/2014/main" id="{268DADB9-AB68-9767-C2DF-CFDBBCD9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087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Graphical</a:t>
            </a:r>
            <a:r>
              <a:rPr lang="pl-PL" dirty="0"/>
              <a:t> </a:t>
            </a:r>
            <a:r>
              <a:rPr lang="pl-PL" dirty="0" err="1"/>
              <a:t>interpretation</a:t>
            </a:r>
            <a:endParaRPr lang="en-GB" dirty="0"/>
          </a:p>
        </p:txBody>
      </p:sp>
      <p:sp>
        <p:nvSpPr>
          <p:cNvPr id="7" name="Rectangle 2"/>
          <p:cNvSpPr>
            <a:spLocks noGrp="1"/>
          </p:cNvSpPr>
          <p:nvPr>
            <p:ph idx="1"/>
          </p:nvPr>
        </p:nvSpPr>
        <p:spPr>
          <a:xfrm>
            <a:off x="2324224" y="1862138"/>
            <a:ext cx="9198422" cy="523658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31"/>
              </a:spcBef>
            </a:pPr>
            <a:r>
              <a:rPr lang="en-US" sz="1800" dirty="0"/>
              <a:t>Let f(x) be the </a:t>
            </a:r>
            <a:r>
              <a:rPr lang="en-US" sz="1800" b="1" dirty="0"/>
              <a:t>density function </a:t>
            </a:r>
            <a:r>
              <a:rPr lang="en-US" sz="1800" dirty="0"/>
              <a:t>for a random variable X. This function can be represented as a graph by some curve</a:t>
            </a:r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endParaRPr lang="pl-PL" sz="1800" dirty="0"/>
          </a:p>
          <a:p>
            <a:pPr>
              <a:lnSpc>
                <a:spcPct val="100000"/>
              </a:lnSpc>
              <a:spcBef>
                <a:spcPts val="331"/>
              </a:spcBef>
            </a:pPr>
            <a:r>
              <a:rPr lang="en-GB" sz="1800" dirty="0"/>
              <a:t>The </a:t>
            </a:r>
            <a:r>
              <a:rPr lang="en-GB" sz="1800" b="1" dirty="0"/>
              <a:t>distribution function </a:t>
            </a:r>
            <a:r>
              <a:rPr lang="en-GB" sz="1800" dirty="0"/>
              <a:t>is, in turn, a monotonically increasing function which</a:t>
            </a:r>
            <a:r>
              <a:rPr lang="pl-PL" sz="1800" dirty="0"/>
              <a:t> </a:t>
            </a:r>
            <a:r>
              <a:rPr lang="pl-PL" sz="1800" dirty="0" err="1"/>
              <a:t>value</a:t>
            </a:r>
            <a:r>
              <a:rPr lang="en-GB" sz="1800" dirty="0"/>
              <a:t> </a:t>
            </a:r>
            <a:r>
              <a:rPr lang="pl-PL" sz="1800" dirty="0" err="1"/>
              <a:t>goes</a:t>
            </a:r>
            <a:r>
              <a:rPr lang="en-GB" sz="1800" dirty="0"/>
              <a:t> from 0 to 1</a:t>
            </a:r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pic>
        <p:nvPicPr>
          <p:cNvPr id="13" name="Obraz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763" y="2449770"/>
            <a:ext cx="3617653" cy="1832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rostokąt 13"/>
              <p:cNvSpPr/>
              <p:nvPr/>
            </p:nvSpPr>
            <p:spPr>
              <a:xfrm>
                <a:off x="7724824" y="2596451"/>
                <a:ext cx="174740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4" name="Prostoką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824" y="2596451"/>
                <a:ext cx="1747401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wolny kształt: kształt 14"/>
          <p:cNvSpPr/>
          <p:nvPr/>
        </p:nvSpPr>
        <p:spPr>
          <a:xfrm>
            <a:off x="7033298" y="2929964"/>
            <a:ext cx="505012" cy="195477"/>
          </a:xfrm>
          <a:custGeom>
            <a:avLst/>
            <a:gdLst>
              <a:gd name="connsiteX0" fmla="*/ 294640 w 294640"/>
              <a:gd name="connsiteY0" fmla="*/ 0 h 264160"/>
              <a:gd name="connsiteX1" fmla="*/ 0 w 294640"/>
              <a:gd name="connsiteY1" fmla="*/ 264160 h 26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4640" h="264160">
                <a:moveTo>
                  <a:pt x="294640" y="0"/>
                </a:moveTo>
                <a:lnTo>
                  <a:pt x="0" y="264160"/>
                </a:ln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645"/>
          </a:p>
        </p:txBody>
      </p:sp>
      <p:pic>
        <p:nvPicPr>
          <p:cNvPr id="16" name="Obraz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480" y="4869599"/>
            <a:ext cx="3910754" cy="2011245"/>
          </a:xfrm>
          <a:prstGeom prst="rect">
            <a:avLst/>
          </a:prstGeom>
        </p:spPr>
      </p:pic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AF7ECCA3-4EE8-6D90-7F33-233F6070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43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60DD947-8447-B7B0-368F-C198AD9C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719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4408" dirty="0"/>
              <a:t>Joint </a:t>
            </a:r>
            <a:r>
              <a:rPr lang="pl-PL" sz="4408" dirty="0" err="1"/>
              <a:t>distributions</a:t>
            </a:r>
            <a:r>
              <a:rPr lang="pl-PL" sz="4408" dirty="0"/>
              <a:t> (I)</a:t>
            </a:r>
            <a:r>
              <a:rPr lang="en-US" sz="4408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1964185" y="1636012"/>
                <a:ext cx="9558462" cy="5236582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en-GB" sz="1800" dirty="0"/>
                  <a:t>If X and Y are two discrete RVs, we can define P.D.F. of X and Y as follow:</a:t>
                </a:r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endParaRPr lang="en-GB" sz="1800" dirty="0"/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endParaRPr lang="en-GB" sz="1800" dirty="0"/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endParaRPr lang="en-GB" sz="1800" dirty="0"/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endParaRPr lang="en-GB" sz="1800" dirty="0"/>
              </a:p>
              <a:p>
                <a:pPr algn="just">
                  <a:lnSpc>
                    <a:spcPct val="100000"/>
                  </a:lnSpc>
                  <a:spcBef>
                    <a:spcPts val="331"/>
                  </a:spcBef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en-GB" sz="1800" dirty="0"/>
                  <a:t>If we assume that: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dirty="0"/>
                  <a:t> and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dirty="0"/>
                  <a:t>, then the probability of the event that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800" dirty="0"/>
                  <a:t> and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1800" dirty="0"/>
                  <a:t> is given by: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en-GB" sz="1800" dirty="0"/>
                  <a:t>Respective probabilities for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800" dirty="0"/>
                  <a:t> and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1800" dirty="0"/>
                  <a:t> are given by:</a:t>
                </a:r>
              </a:p>
            </p:txBody>
          </p:sp>
        </mc:Choice>
        <mc:Fallback xmlns="">
          <p:sp>
            <p:nvSpPr>
              <p:cNvPr id="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4185" y="1636012"/>
                <a:ext cx="9558462" cy="5236582"/>
              </a:xfrm>
              <a:blipFill>
                <a:blip r:embed="rId2"/>
                <a:stretch>
                  <a:fillRect l="-383" t="-5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raz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/>
              <p:cNvSpPr txBox="1"/>
              <p:nvPr/>
            </p:nvSpPr>
            <p:spPr>
              <a:xfrm>
                <a:off x="3618851" y="2063005"/>
                <a:ext cx="29020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pole tekstow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851" y="2063005"/>
                <a:ext cx="2902077" cy="307777"/>
              </a:xfrm>
              <a:prstGeom prst="rect">
                <a:avLst/>
              </a:prstGeom>
              <a:blipFill>
                <a:blip r:embed="rId4"/>
                <a:stretch>
                  <a:fillRect l="-1471" r="-2521" b="-372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3592958" y="2523277"/>
                <a:ext cx="12965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)≥0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958" y="2523277"/>
                <a:ext cx="1296509" cy="307777"/>
              </a:xfrm>
              <a:prstGeom prst="rect">
                <a:avLst/>
              </a:prstGeom>
              <a:blipFill>
                <a:blip r:embed="rId5"/>
                <a:stretch>
                  <a:fillRect l="-5634" r="-3756" b="-4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/>
              <p:cNvSpPr txBox="1"/>
              <p:nvPr/>
            </p:nvSpPr>
            <p:spPr>
              <a:xfrm>
                <a:off x="5220881" y="2682320"/>
                <a:ext cx="2258119" cy="6033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/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881" y="2682320"/>
                <a:ext cx="2258119" cy="603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/>
              <p:cNvSpPr txBox="1"/>
              <p:nvPr/>
            </p:nvSpPr>
            <p:spPr>
              <a:xfrm>
                <a:off x="3577047" y="4206315"/>
                <a:ext cx="3221266" cy="35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pole tekstow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047" y="4206315"/>
                <a:ext cx="3221266" cy="354584"/>
              </a:xfrm>
              <a:prstGeom prst="rect">
                <a:avLst/>
              </a:prstGeom>
              <a:blipFill>
                <a:blip r:embed="rId7"/>
                <a:stretch>
                  <a:fillRect l="-1326" r="-2462" b="-2413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/>
              <p:cNvSpPr txBox="1"/>
              <p:nvPr/>
            </p:nvSpPr>
            <p:spPr>
              <a:xfrm>
                <a:off x="2900288" y="5265732"/>
                <a:ext cx="4846711" cy="5690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4" name="pole tekstow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288" y="5265732"/>
                <a:ext cx="4846711" cy="5690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/>
              <p:cNvSpPr txBox="1"/>
              <p:nvPr/>
            </p:nvSpPr>
            <p:spPr>
              <a:xfrm>
                <a:off x="2880359" y="5922265"/>
                <a:ext cx="4906471" cy="5690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5" name="pole tekstow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359" y="5922265"/>
                <a:ext cx="4906471" cy="56900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CB33AD59-A5C0-928C-FC15-D3C61A59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44</a:t>
            </a:fld>
            <a:endParaRPr lang="en-US" altLang="pl-PL"/>
          </a:p>
        </p:txBody>
      </p:sp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id="{82DF6382-02DA-67EB-9297-1BBFE2525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899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11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4408" dirty="0"/>
              <a:t>Joint </a:t>
            </a:r>
            <a:r>
              <a:rPr lang="pl-PL" sz="4408" dirty="0" err="1"/>
              <a:t>distributions</a:t>
            </a:r>
            <a:r>
              <a:rPr lang="pl-PL" sz="4408" dirty="0"/>
              <a:t> (II)</a:t>
            </a:r>
            <a:r>
              <a:rPr lang="en-US" sz="4408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3260873" y="5529458"/>
                <a:ext cx="8261773" cy="149990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31"/>
                  </a:spcBef>
                  <a:buNone/>
                </a:pPr>
                <a:r>
                  <a:rPr lang="en-GB" sz="2000" dirty="0"/>
                  <a:t>Because the respective probabilities: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000" dirty="0"/>
                  <a:t> are found on the margins of the joint probability table, we call both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000" dirty="0"/>
                  <a:t> </a:t>
                </a:r>
                <a:r>
                  <a:rPr lang="en-GB" sz="1800" dirty="0"/>
                  <a:t>the </a:t>
                </a:r>
                <a:r>
                  <a:rPr lang="en-GB" sz="1800" b="1" dirty="0"/>
                  <a:t>marginal</a:t>
                </a:r>
                <a:r>
                  <a:rPr lang="en-GB" sz="1800" dirty="0"/>
                  <a:t> </a:t>
                </a:r>
                <a:r>
                  <a:rPr lang="en-GB" sz="1800" b="1" dirty="0"/>
                  <a:t>probability functions </a:t>
                </a:r>
                <a:r>
                  <a:rPr lang="en-GB" sz="1800" dirty="0"/>
                  <a:t>of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800" dirty="0"/>
                  <a:t> and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2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0873" y="5529458"/>
                <a:ext cx="8261773" cy="1499902"/>
              </a:xfrm>
              <a:blipFill>
                <a:blip r:embed="rId3"/>
                <a:stretch>
                  <a:fillRect l="-812" t="-2033" r="-147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Obraz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422" y="1794696"/>
            <a:ext cx="6853326" cy="3022600"/>
          </a:xfrm>
          <a:prstGeom prst="rect">
            <a:avLst/>
          </a:prstGeom>
        </p:spPr>
      </p:pic>
      <p:sp>
        <p:nvSpPr>
          <p:cNvPr id="14" name="Dowolny kształt 13"/>
          <p:cNvSpPr/>
          <p:nvPr/>
        </p:nvSpPr>
        <p:spPr>
          <a:xfrm>
            <a:off x="4702473" y="4211422"/>
            <a:ext cx="4099995" cy="568774"/>
          </a:xfrm>
          <a:custGeom>
            <a:avLst/>
            <a:gdLst>
              <a:gd name="connsiteX0" fmla="*/ 311669 w 3721004"/>
              <a:gd name="connsiteY0" fmla="*/ 64069 h 516198"/>
              <a:gd name="connsiteX1" fmla="*/ 22109 w 3721004"/>
              <a:gd name="connsiteY1" fmla="*/ 353629 h 516198"/>
              <a:gd name="connsiteX2" fmla="*/ 837449 w 3721004"/>
              <a:gd name="connsiteY2" fmla="*/ 506029 h 516198"/>
              <a:gd name="connsiteX3" fmla="*/ 2673869 w 3721004"/>
              <a:gd name="connsiteY3" fmla="*/ 490789 h 516198"/>
              <a:gd name="connsiteX4" fmla="*/ 3618749 w 3721004"/>
              <a:gd name="connsiteY4" fmla="*/ 490789 h 516198"/>
              <a:gd name="connsiteX5" fmla="*/ 3664469 w 3721004"/>
              <a:gd name="connsiteY5" fmla="*/ 140269 h 516198"/>
              <a:gd name="connsiteX6" fmla="*/ 3344429 w 3721004"/>
              <a:gd name="connsiteY6" fmla="*/ 3109 h 516198"/>
              <a:gd name="connsiteX7" fmla="*/ 2681489 w 3721004"/>
              <a:gd name="connsiteY7" fmla="*/ 41209 h 516198"/>
              <a:gd name="connsiteX8" fmla="*/ 128789 w 3721004"/>
              <a:gd name="connsiteY8" fmla="*/ 117409 h 516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004" h="516198">
                <a:moveTo>
                  <a:pt x="311669" y="64069"/>
                </a:moveTo>
                <a:cubicBezTo>
                  <a:pt x="123074" y="172019"/>
                  <a:pt x="-65521" y="279969"/>
                  <a:pt x="22109" y="353629"/>
                </a:cubicBezTo>
                <a:cubicBezTo>
                  <a:pt x="109739" y="427289"/>
                  <a:pt x="395489" y="483169"/>
                  <a:pt x="837449" y="506029"/>
                </a:cubicBezTo>
                <a:cubicBezTo>
                  <a:pt x="1279409" y="528889"/>
                  <a:pt x="2673869" y="490789"/>
                  <a:pt x="2673869" y="490789"/>
                </a:cubicBezTo>
                <a:cubicBezTo>
                  <a:pt x="3137419" y="488249"/>
                  <a:pt x="3453649" y="549209"/>
                  <a:pt x="3618749" y="490789"/>
                </a:cubicBezTo>
                <a:cubicBezTo>
                  <a:pt x="3783849" y="432369"/>
                  <a:pt x="3710189" y="221549"/>
                  <a:pt x="3664469" y="140269"/>
                </a:cubicBezTo>
                <a:cubicBezTo>
                  <a:pt x="3618749" y="58989"/>
                  <a:pt x="3508259" y="19619"/>
                  <a:pt x="3344429" y="3109"/>
                </a:cubicBezTo>
                <a:cubicBezTo>
                  <a:pt x="3180599" y="-13401"/>
                  <a:pt x="2681489" y="41209"/>
                  <a:pt x="2681489" y="41209"/>
                </a:cubicBezTo>
                <a:lnTo>
                  <a:pt x="128789" y="117409"/>
                </a:ln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645"/>
          </a:p>
        </p:txBody>
      </p:sp>
      <p:sp>
        <p:nvSpPr>
          <p:cNvPr id="16" name="Dowolny kształt 15"/>
          <p:cNvSpPr/>
          <p:nvPr/>
        </p:nvSpPr>
        <p:spPr>
          <a:xfrm>
            <a:off x="8888504" y="2359307"/>
            <a:ext cx="851918" cy="2014095"/>
          </a:xfrm>
          <a:custGeom>
            <a:avLst/>
            <a:gdLst>
              <a:gd name="connsiteX0" fmla="*/ 353062 w 773169"/>
              <a:gd name="connsiteY0" fmla="*/ 76200 h 1827918"/>
              <a:gd name="connsiteX1" fmla="*/ 40642 w 773169"/>
              <a:gd name="connsiteY1" fmla="*/ 137160 h 1827918"/>
              <a:gd name="connsiteX2" fmla="*/ 17782 w 773169"/>
              <a:gd name="connsiteY2" fmla="*/ 525780 h 1827918"/>
              <a:gd name="connsiteX3" fmla="*/ 170182 w 773169"/>
              <a:gd name="connsiteY3" fmla="*/ 1676400 h 1827918"/>
              <a:gd name="connsiteX4" fmla="*/ 703582 w 773169"/>
              <a:gd name="connsiteY4" fmla="*/ 1668780 h 1827918"/>
              <a:gd name="connsiteX5" fmla="*/ 711202 w 773169"/>
              <a:gd name="connsiteY5" fmla="*/ 335280 h 1827918"/>
              <a:gd name="connsiteX6" fmla="*/ 193042 w 773169"/>
              <a:gd name="connsiteY6" fmla="*/ 0 h 182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169" h="1827918">
                <a:moveTo>
                  <a:pt x="353062" y="76200"/>
                </a:moveTo>
                <a:cubicBezTo>
                  <a:pt x="224792" y="69215"/>
                  <a:pt x="96522" y="62230"/>
                  <a:pt x="40642" y="137160"/>
                </a:cubicBezTo>
                <a:cubicBezTo>
                  <a:pt x="-15238" y="212090"/>
                  <a:pt x="-3808" y="269240"/>
                  <a:pt x="17782" y="525780"/>
                </a:cubicBezTo>
                <a:cubicBezTo>
                  <a:pt x="39372" y="782320"/>
                  <a:pt x="55882" y="1485900"/>
                  <a:pt x="170182" y="1676400"/>
                </a:cubicBezTo>
                <a:cubicBezTo>
                  <a:pt x="284482" y="1866900"/>
                  <a:pt x="613412" y="1892300"/>
                  <a:pt x="703582" y="1668780"/>
                </a:cubicBezTo>
                <a:cubicBezTo>
                  <a:pt x="793752" y="1445260"/>
                  <a:pt x="796292" y="613410"/>
                  <a:pt x="711202" y="335280"/>
                </a:cubicBezTo>
                <a:cubicBezTo>
                  <a:pt x="626112" y="57150"/>
                  <a:pt x="409577" y="28575"/>
                  <a:pt x="193042" y="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645"/>
          </a:p>
        </p:txBody>
      </p:sp>
      <p:sp>
        <p:nvSpPr>
          <p:cNvPr id="17" name="pole tekstowe 16"/>
          <p:cNvSpPr txBox="1"/>
          <p:nvPr/>
        </p:nvSpPr>
        <p:spPr>
          <a:xfrm>
            <a:off x="9979877" y="2359307"/>
            <a:ext cx="11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/>
              <a:t>Right </a:t>
            </a:r>
            <a:r>
              <a:rPr lang="pl-PL" sz="1800" dirty="0" err="1"/>
              <a:t>Margin</a:t>
            </a:r>
            <a:endParaRPr lang="en-GB" sz="1800" dirty="0"/>
          </a:p>
        </p:txBody>
      </p:sp>
      <p:sp>
        <p:nvSpPr>
          <p:cNvPr id="18" name="pole tekstowe 17"/>
          <p:cNvSpPr txBox="1"/>
          <p:nvPr/>
        </p:nvSpPr>
        <p:spPr>
          <a:xfrm>
            <a:off x="3622368" y="4571672"/>
            <a:ext cx="11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 dirty="0" err="1"/>
              <a:t>Bottom</a:t>
            </a:r>
            <a:r>
              <a:rPr lang="pl-PL" sz="1800" dirty="0"/>
              <a:t> </a:t>
            </a:r>
            <a:r>
              <a:rPr lang="pl-PL" sz="1800" dirty="0" err="1"/>
              <a:t>Margin</a:t>
            </a:r>
            <a:endParaRPr lang="en-GB" sz="1800" dirty="0"/>
          </a:p>
        </p:txBody>
      </p:sp>
      <p:cxnSp>
        <p:nvCxnSpPr>
          <p:cNvPr id="20" name="Łącznik prosty ze strzałką 19"/>
          <p:cNvCxnSpPr/>
          <p:nvPr/>
        </p:nvCxnSpPr>
        <p:spPr>
          <a:xfrm flipV="1">
            <a:off x="4653816" y="4817296"/>
            <a:ext cx="714079" cy="30977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ze strzałką 21"/>
          <p:cNvCxnSpPr/>
          <p:nvPr/>
        </p:nvCxnSpPr>
        <p:spPr>
          <a:xfrm flipH="1">
            <a:off x="9989045" y="3163260"/>
            <a:ext cx="439497" cy="297621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67FA3929-6E57-E643-EC5F-06B59DB6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45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914C02B-20A1-CAEB-6126-6AC77150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60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10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4408" dirty="0"/>
              <a:t>Joint </a:t>
            </a:r>
            <a:r>
              <a:rPr lang="pl-PL" sz="4408" dirty="0" err="1"/>
              <a:t>distributions</a:t>
            </a:r>
            <a:r>
              <a:rPr lang="pl-PL" sz="4408" dirty="0"/>
              <a:t> (III)</a:t>
            </a:r>
            <a:r>
              <a:rPr lang="en-US" sz="4408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108201" y="1636012"/>
                <a:ext cx="9414446" cy="5553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r>
                  <a:rPr lang="en-GB" sz="1800" dirty="0"/>
                  <a:t>It is essential to note that for both marginal density functions we have: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r>
                  <a:rPr lang="en-GB" sz="1800" dirty="0"/>
                  <a:t>The two above are equivalent of: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endParaRPr lang="en-GB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r>
                  <a:rPr lang="en-GB" sz="1800" dirty="0"/>
                  <a:t>Since all of these functions represent P.D.F. they must be normalised, or in other words the probability of all entries is 1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r>
                  <a:rPr lang="en-GB" sz="1800" dirty="0"/>
                  <a:t>The </a:t>
                </a:r>
                <a:r>
                  <a:rPr lang="en-GB" sz="1800" b="1" dirty="0"/>
                  <a:t>joint distribution function</a:t>
                </a:r>
                <a:r>
                  <a:rPr lang="en-GB" sz="1800" dirty="0"/>
                  <a:t> of RVs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800" dirty="0"/>
                  <a:t> and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1800" b="1" dirty="0"/>
                  <a:t> </a:t>
                </a:r>
                <a:r>
                  <a:rPr lang="en-GB" sz="1800" dirty="0"/>
                  <a:t>is given by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endParaRPr lang="en-GB" sz="1800" b="1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endParaRPr lang="en-GB" sz="1800" b="1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r>
                  <a:rPr lang="en-GB" sz="1800" dirty="0"/>
                  <a:t>So, to get a value of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800" dirty="0"/>
                  <a:t> for a given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sz="1800" dirty="0"/>
                  <a:t> we need to sum-up all the entries 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1800" dirty="0"/>
              </a:p>
            </p:txBody>
          </p:sp>
        </mc:Choice>
        <mc:Fallback xmlns="">
          <p:sp>
            <p:nvSpPr>
              <p:cNvPr id="1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8201" y="1636012"/>
                <a:ext cx="9414446" cy="5553950"/>
              </a:xfrm>
              <a:blipFill>
                <a:blip r:embed="rId3"/>
                <a:stretch>
                  <a:fillRect l="-453" t="-54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/>
              <p:cNvSpPr txBox="1"/>
              <p:nvPr/>
            </p:nvSpPr>
            <p:spPr>
              <a:xfrm>
                <a:off x="4124424" y="2038592"/>
                <a:ext cx="3332835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pole tekstow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424" y="2038592"/>
                <a:ext cx="3332835" cy="6038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/>
              <p:cNvSpPr txBox="1"/>
              <p:nvPr/>
            </p:nvSpPr>
            <p:spPr>
              <a:xfrm>
                <a:off x="4124424" y="3259599"/>
                <a:ext cx="2398477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l-PL" sz="20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20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l-PL" sz="20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pl-PL" sz="20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20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l-PL" sz="20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pole tekstow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424" y="3259599"/>
                <a:ext cx="2398477" cy="6038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/>
              <p:cNvSpPr txBox="1"/>
              <p:nvPr/>
            </p:nvSpPr>
            <p:spPr>
              <a:xfrm>
                <a:off x="3538903" y="5260880"/>
                <a:ext cx="5444760" cy="6033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/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4" name="pole tekstow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903" y="5260880"/>
                <a:ext cx="5444760" cy="603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A58F3527-9DD6-EFB4-FD4B-72EE8368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46</a:t>
            </a:fld>
            <a:endParaRPr lang="en-US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7DAF6D0-85B7-4269-DEC7-BC8FCE321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889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p:sp>
        <p:nvSpPr>
          <p:cNvPr id="8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Joint </a:t>
            </a:r>
            <a:r>
              <a:rPr lang="pl-PL" dirty="0" err="1"/>
              <a:t>distributions</a:t>
            </a:r>
            <a:r>
              <a:rPr lang="pl-PL" dirty="0"/>
              <a:t> (IV)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396233" y="1636012"/>
                <a:ext cx="9126414" cy="5553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r>
                  <a:rPr lang="en-GB" sz="1983" dirty="0"/>
                  <a:t>Again, by analogy we can easily obtain the joint probability function for continuous RVs </a:t>
                </a:r>
                <a14:m>
                  <m:oMath xmlns:m="http://schemas.openxmlformats.org/officeDocument/2006/math">
                    <m:r>
                      <a:rPr lang="en-GB" sz="1983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983" dirty="0"/>
                  <a:t> and </a:t>
                </a:r>
                <a14:m>
                  <m:oMath xmlns:m="http://schemas.openxmlformats.org/officeDocument/2006/math">
                    <m:r>
                      <a:rPr lang="en-GB" sz="1983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1983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endParaRPr lang="en-GB" sz="1983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endParaRPr lang="en-GB" sz="1983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  <a:spcAft>
                    <a:spcPts val="661"/>
                  </a:spcAft>
                </a:pPr>
                <a:r>
                  <a:rPr lang="en-GB" sz="1983" dirty="0"/>
                  <a:t>The probability can be estimated using the joint P.D.F. as follow:</a:t>
                </a:r>
              </a:p>
            </p:txBody>
          </p:sp>
        </mc:Choice>
        <mc:Fallback xmlns="">
          <p:sp>
            <p:nvSpPr>
              <p:cNvPr id="1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96233" y="1636012"/>
                <a:ext cx="9126414" cy="5553950"/>
              </a:xfrm>
              <a:blipFill>
                <a:blip r:embed="rId3"/>
                <a:stretch>
                  <a:fillRect l="-534" t="-43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/>
              <p:cNvSpPr txBox="1"/>
              <p:nvPr/>
            </p:nvSpPr>
            <p:spPr>
              <a:xfrm>
                <a:off x="3822369" y="2438001"/>
                <a:ext cx="4089966" cy="664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≥0,</m:t>
                      </m:r>
                      <m:nary>
                        <m:nary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e>
                      </m:nary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645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369" y="2438001"/>
                <a:ext cx="4089966" cy="6640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/>
              <p:cNvSpPr txBox="1"/>
              <p:nvPr/>
            </p:nvSpPr>
            <p:spPr>
              <a:xfrm>
                <a:off x="3822369" y="3694854"/>
                <a:ext cx="5139869" cy="698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nary>
                            <m:nary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6" name="pole tekstow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369" y="3694854"/>
                <a:ext cx="5139869" cy="6981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Obraz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620" y="4663636"/>
            <a:ext cx="4397463" cy="2099028"/>
          </a:xfrm>
          <a:prstGeom prst="rect">
            <a:avLst/>
          </a:prstGeom>
        </p:spPr>
      </p:pic>
      <p:sp>
        <p:nvSpPr>
          <p:cNvPr id="12" name="Dowolny kształt 11"/>
          <p:cNvSpPr/>
          <p:nvPr/>
        </p:nvSpPr>
        <p:spPr>
          <a:xfrm rot="18939748">
            <a:off x="5015929" y="4309750"/>
            <a:ext cx="457800" cy="1312964"/>
          </a:xfrm>
          <a:custGeom>
            <a:avLst/>
            <a:gdLst>
              <a:gd name="connsiteX0" fmla="*/ 618065 w 618065"/>
              <a:gd name="connsiteY0" fmla="*/ 0 h 1156996"/>
              <a:gd name="connsiteX1" fmla="*/ 2244 w 618065"/>
              <a:gd name="connsiteY1" fmla="*/ 317241 h 1156996"/>
              <a:gd name="connsiteX2" fmla="*/ 412791 w 618065"/>
              <a:gd name="connsiteY2" fmla="*/ 597159 h 1156996"/>
              <a:gd name="connsiteX3" fmla="*/ 468775 w 618065"/>
              <a:gd name="connsiteY3" fmla="*/ 1156996 h 1156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65" h="1156996">
                <a:moveTo>
                  <a:pt x="618065" y="0"/>
                </a:moveTo>
                <a:cubicBezTo>
                  <a:pt x="327260" y="108857"/>
                  <a:pt x="36456" y="217715"/>
                  <a:pt x="2244" y="317241"/>
                </a:cubicBezTo>
                <a:cubicBezTo>
                  <a:pt x="-31968" y="416767"/>
                  <a:pt x="335036" y="457200"/>
                  <a:pt x="412791" y="597159"/>
                </a:cubicBezTo>
                <a:cubicBezTo>
                  <a:pt x="490546" y="737118"/>
                  <a:pt x="479660" y="947057"/>
                  <a:pt x="468775" y="1156996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645"/>
          </a:p>
        </p:txBody>
      </p:sp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52DBD74F-4EE9-53B6-BE8A-0B221379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47</a:t>
            </a:fld>
            <a:endParaRPr lang="en-US" alt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A8D3748-6743-8AE4-3086-BCF1B7C5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742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Joint </a:t>
            </a:r>
            <a:r>
              <a:rPr lang="pl-PL" dirty="0" err="1"/>
              <a:t>distributions</a:t>
            </a:r>
            <a:r>
              <a:rPr lang="pl-PL" dirty="0"/>
              <a:t> (V)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1964184" y="1862138"/>
                <a:ext cx="9454691" cy="523658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en-GB" sz="1800" dirty="0"/>
                  <a:t>Now, we can define the joint distribution function</a:t>
                </a:r>
                <a:r>
                  <a:rPr lang="pl-PL" sz="1800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pl-PL" sz="1800" dirty="0"/>
                  <a:t>We </a:t>
                </a:r>
                <a:r>
                  <a:rPr lang="pl-PL" sz="1800" dirty="0" err="1"/>
                  <a:t>also</a:t>
                </a:r>
                <a:r>
                  <a:rPr lang="pl-PL" sz="1800" dirty="0"/>
                  <a:t> </a:t>
                </a:r>
                <a:r>
                  <a:rPr lang="pl-PL" sz="1800" dirty="0" err="1"/>
                  <a:t>have</a:t>
                </a:r>
                <a:r>
                  <a:rPr lang="pl-PL" sz="1800" dirty="0"/>
                  <a:t> the </a:t>
                </a:r>
                <a:r>
                  <a:rPr lang="pl-PL" sz="1800" dirty="0" err="1"/>
                  <a:t>following</a:t>
                </a:r>
                <a:r>
                  <a:rPr lang="pl-PL" sz="1800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pl-PL" sz="1800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en-GB" sz="1800" dirty="0"/>
                  <a:t>By analogy, the respective marginal functions can be defined for both density,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800" dirty="0"/>
                  <a:t>, and distribution,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800" dirty="0"/>
                  <a:t> functions</a:t>
                </a:r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4184" y="1862138"/>
                <a:ext cx="9454691" cy="5236582"/>
              </a:xfrm>
              <a:blipFill>
                <a:blip r:embed="rId2"/>
                <a:stretch>
                  <a:fillRect l="-387" t="-5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/>
              <p:cNvSpPr txBox="1"/>
              <p:nvPr/>
            </p:nvSpPr>
            <p:spPr>
              <a:xfrm>
                <a:off x="3548360" y="2149528"/>
                <a:ext cx="5493619" cy="665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𝑑𝑢𝑑𝑣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2645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360" y="2149528"/>
                <a:ext cx="5493619" cy="665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/>
              <p:cNvSpPr txBox="1"/>
              <p:nvPr/>
            </p:nvSpPr>
            <p:spPr>
              <a:xfrm>
                <a:off x="5132536" y="2888930"/>
                <a:ext cx="2194703" cy="670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pole tekstow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536" y="2888930"/>
                <a:ext cx="2194703" cy="670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/>
              <p:cNvSpPr txBox="1"/>
              <p:nvPr/>
            </p:nvSpPr>
            <p:spPr>
              <a:xfrm>
                <a:off x="4000889" y="4579491"/>
                <a:ext cx="4982774" cy="664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8" name="pole tekstow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889" y="4579491"/>
                <a:ext cx="4982774" cy="6640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2243543" y="5632926"/>
                <a:ext cx="4585678" cy="665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𝑑𝑢𝑑𝑣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43" y="5632926"/>
                <a:ext cx="4585678" cy="6651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/>
              <p:cNvSpPr txBox="1"/>
              <p:nvPr/>
            </p:nvSpPr>
            <p:spPr>
              <a:xfrm>
                <a:off x="7652816" y="5592037"/>
                <a:ext cx="4589654" cy="665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l-PL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pl-PL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𝑑𝑢𝑑𝑣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2645" dirty="0"/>
              </a:p>
            </p:txBody>
          </p:sp>
        </mc:Choice>
        <mc:Fallback xmlns="">
          <p:sp>
            <p:nvSpPr>
              <p:cNvPr id="12" name="pole tekstow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816" y="5592037"/>
                <a:ext cx="4589654" cy="6651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ymbol zastępczy numeru slajdu 9">
            <a:extLst>
              <a:ext uri="{FF2B5EF4-FFF2-40B4-BE49-F238E27FC236}">
                <a16:creationId xmlns:a16="http://schemas.microsoft.com/office/drawing/2014/main" id="{9AC9DA22-3351-5517-A17D-BC97F9D7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48</a:t>
            </a:fld>
            <a:endParaRPr lang="en-US" altLang="pl-PL"/>
          </a:p>
        </p:txBody>
      </p:sp>
      <p:sp>
        <p:nvSpPr>
          <p:cNvPr id="11" name="Symbol zastępczy stopki 10">
            <a:extLst>
              <a:ext uri="{FF2B5EF4-FFF2-40B4-BE49-F238E27FC236}">
                <a16:creationId xmlns:a16="http://schemas.microsoft.com/office/drawing/2014/main" id="{DB063B02-1094-870C-0AB0-B312469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125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4781FAE-4008-4D16-942B-976AE1BD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42B7-F7A6-44F5-A940-BF91B5A1AE3C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0F791ADF-C05B-43E0-908C-5A87C14A6DC8}"/>
              </a:ext>
            </a:extLst>
          </p:cNvPr>
          <p:cNvSpPr/>
          <p:nvPr/>
        </p:nvSpPr>
        <p:spPr>
          <a:xfrm>
            <a:off x="2468240" y="1752728"/>
            <a:ext cx="78548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Ex</a:t>
            </a:r>
            <a:r>
              <a:rPr lang="pl-PL" sz="2000" dirty="0"/>
              <a:t>ample: </a:t>
            </a:r>
            <a:r>
              <a:rPr lang="en-US" sz="2000" dirty="0"/>
              <a:t>Students in a class of 100 were classified according to gender (G) and smoking (S) as follows: </a:t>
            </a:r>
            <a:endParaRPr lang="en-GB" sz="2000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1FE7F6C-C782-4C60-B222-E56C4F98B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400" y="2422574"/>
            <a:ext cx="3605899" cy="1720405"/>
          </a:xfrm>
          <a:prstGeom prst="rect">
            <a:avLst/>
          </a:prstGeom>
        </p:spPr>
      </p:pic>
      <p:sp>
        <p:nvSpPr>
          <p:cNvPr id="5" name="Prostokąt 4">
            <a:extLst>
              <a:ext uri="{FF2B5EF4-FFF2-40B4-BE49-F238E27FC236}">
                <a16:creationId xmlns:a16="http://schemas.microsoft.com/office/drawing/2014/main" id="{589FFCAB-0C7C-4D4F-8A85-DE135571FB74}"/>
              </a:ext>
            </a:extLst>
          </p:cNvPr>
          <p:cNvSpPr/>
          <p:nvPr/>
        </p:nvSpPr>
        <p:spPr>
          <a:xfrm>
            <a:off x="3288621" y="4458882"/>
            <a:ext cx="8052668" cy="2229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543" dirty="0"/>
              <a:t>Identify:</a:t>
            </a:r>
          </a:p>
          <a:p>
            <a:pPr marL="314868" indent="-314868">
              <a:buFont typeface="Arial" panose="020B0604020202020204" pitchFamily="34" charset="0"/>
              <a:buChar char="•"/>
            </a:pPr>
            <a:r>
              <a:rPr lang="en-GB" sz="1543" dirty="0"/>
              <a:t>joint distribution function</a:t>
            </a:r>
          </a:p>
          <a:p>
            <a:pPr marL="314868" indent="-314868">
              <a:buFont typeface="Arial" panose="020B0604020202020204" pitchFamily="34" charset="0"/>
              <a:buChar char="•"/>
            </a:pPr>
            <a:r>
              <a:rPr lang="en-GB" sz="1543" dirty="0"/>
              <a:t>marginal distributions</a:t>
            </a:r>
          </a:p>
          <a:p>
            <a:endParaRPr lang="pl-PL" sz="1543" dirty="0"/>
          </a:p>
          <a:p>
            <a:r>
              <a:rPr lang="en-US" sz="1543" dirty="0"/>
              <a:t>Find the probability that a randomly selected student </a:t>
            </a:r>
            <a:endParaRPr lang="pl-PL" sz="1543" dirty="0"/>
          </a:p>
          <a:p>
            <a:pPr lvl="1"/>
            <a:r>
              <a:rPr lang="pl-PL" sz="1543" dirty="0"/>
              <a:t>1. </a:t>
            </a:r>
            <a:r>
              <a:rPr lang="pl-PL" sz="1543" dirty="0" err="1"/>
              <a:t>is</a:t>
            </a:r>
            <a:r>
              <a:rPr lang="pl-PL" sz="1543" dirty="0"/>
              <a:t> </a:t>
            </a:r>
            <a:r>
              <a:rPr lang="en-US" sz="1543" dirty="0"/>
              <a:t>a male; </a:t>
            </a:r>
            <a:endParaRPr lang="pl-PL" sz="1543" dirty="0"/>
          </a:p>
          <a:p>
            <a:pPr lvl="1"/>
            <a:r>
              <a:rPr lang="en-US" sz="1543" dirty="0"/>
              <a:t>2. is a male smoker; </a:t>
            </a:r>
            <a:endParaRPr lang="pl-PL" sz="1543" dirty="0"/>
          </a:p>
          <a:p>
            <a:pPr lvl="1"/>
            <a:r>
              <a:rPr lang="en-US" sz="1543" dirty="0"/>
              <a:t>3. is either a smoker or did smoke but quit; </a:t>
            </a:r>
            <a:endParaRPr lang="pl-PL" sz="1543" dirty="0"/>
          </a:p>
          <a:p>
            <a:pPr lvl="1"/>
            <a:r>
              <a:rPr lang="en-US" sz="1543" dirty="0"/>
              <a:t>4. is a female who is a smoker or did smoke but quit.</a:t>
            </a:r>
            <a:endParaRPr lang="en-GB" sz="2645" dirty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D89070E9-5F65-4BF8-ADEE-B722508A59FD}"/>
              </a:ext>
            </a:extLst>
          </p:cNvPr>
          <p:cNvSpPr/>
          <p:nvPr/>
        </p:nvSpPr>
        <p:spPr>
          <a:xfrm>
            <a:off x="8164986" y="2973606"/>
            <a:ext cx="2915544" cy="80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l-PL" sz="1543" dirty="0">
                <a:solidFill>
                  <a:prstClr val="black"/>
                </a:solidFill>
              </a:rPr>
              <a:t>s: </a:t>
            </a:r>
            <a:r>
              <a:rPr lang="en-US" sz="1543" dirty="0">
                <a:solidFill>
                  <a:prstClr val="black"/>
                </a:solidFill>
              </a:rPr>
              <a:t>“now smokes”, </a:t>
            </a:r>
            <a:endParaRPr lang="pl-PL" sz="1543" dirty="0">
              <a:solidFill>
                <a:prstClr val="black"/>
              </a:solidFill>
            </a:endParaRPr>
          </a:p>
          <a:p>
            <a:pPr lvl="0"/>
            <a:r>
              <a:rPr lang="pl-PL" sz="1543" dirty="0">
                <a:solidFill>
                  <a:prstClr val="black"/>
                </a:solidFill>
              </a:rPr>
              <a:t>q: </a:t>
            </a:r>
            <a:r>
              <a:rPr lang="en-US" sz="1543" dirty="0">
                <a:solidFill>
                  <a:prstClr val="black"/>
                </a:solidFill>
              </a:rPr>
              <a:t>“did smoke but quit” </a:t>
            </a:r>
            <a:endParaRPr lang="pl-PL" sz="1543" dirty="0">
              <a:solidFill>
                <a:prstClr val="black"/>
              </a:solidFill>
            </a:endParaRPr>
          </a:p>
          <a:p>
            <a:pPr lvl="0"/>
            <a:r>
              <a:rPr lang="pl-PL" sz="1543" dirty="0">
                <a:solidFill>
                  <a:prstClr val="black"/>
                </a:solidFill>
              </a:rPr>
              <a:t>n: </a:t>
            </a:r>
            <a:r>
              <a:rPr lang="en-US" sz="1543" dirty="0">
                <a:solidFill>
                  <a:prstClr val="black"/>
                </a:solidFill>
              </a:rPr>
              <a:t>“never smoked”</a:t>
            </a:r>
            <a:r>
              <a:rPr lang="pl-PL" sz="1543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D285FB35-9AFC-BE2D-EE09-8B632DF91B79}"/>
              </a:ext>
            </a:extLst>
          </p:cNvPr>
          <p:cNvSpPr txBox="1">
            <a:spLocks/>
          </p:cNvSpPr>
          <p:nvPr/>
        </p:nvSpPr>
        <p:spPr>
          <a:xfrm>
            <a:off x="923925" y="401638"/>
            <a:ext cx="11585575" cy="1460500"/>
          </a:xfrm>
          <a:prstGeom prst="rect">
            <a:avLst/>
          </a:prstGeom>
        </p:spPr>
        <p:txBody>
          <a:bodyPr/>
          <a:lstStyle>
            <a:lvl1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100647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100647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pl-PL" dirty="0"/>
              <a:t>Joint distributions (VI)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F69B0-6AAC-B4B7-2559-DEAEFD06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2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289" y="345286"/>
            <a:ext cx="1266586" cy="542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/>
              <p:cNvSpPr>
                <a:spLocks noGrp="1"/>
              </p:cNvSpPr>
              <p:nvPr>
                <p:ph idx="1"/>
              </p:nvPr>
            </p:nvSpPr>
            <p:spPr>
              <a:xfrm>
                <a:off x="2132106" y="1849386"/>
                <a:ext cx="9558462" cy="523658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en-GB" sz="2204" dirty="0"/>
                  <a:t>We learned how to calculate probability of independent events</a:t>
                </a:r>
                <a:r>
                  <a:rPr lang="pl-PL" sz="2204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pl-PL" sz="2204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pl-PL" sz="2204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en-GB" sz="2204" dirty="0"/>
                  <a:t>This definition can also be used for probability functions. Say,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204" dirty="0"/>
                  <a:t> and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204" dirty="0"/>
                  <a:t> are RVs. If the events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204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4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204" dirty="0"/>
                  <a:t> and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204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4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4" dirty="0"/>
                  <a:t> are independent for all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204" dirty="0"/>
                  <a:t> and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4" dirty="0"/>
                  <a:t>, then we say that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204" dirty="0"/>
                  <a:t> and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204" dirty="0"/>
                  <a:t> are independent RVs. We also have</a:t>
                </a:r>
                <a:r>
                  <a:rPr lang="pl-PL" sz="2204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pl-PL" sz="2204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pl-PL" sz="2204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endParaRPr lang="pl-PL" sz="2204" dirty="0"/>
              </a:p>
              <a:p>
                <a:pPr>
                  <a:lnSpc>
                    <a:spcPct val="100000"/>
                  </a:lnSpc>
                  <a:spcBef>
                    <a:spcPts val="331"/>
                  </a:spcBef>
                </a:pPr>
                <a:r>
                  <a:rPr lang="en-GB" sz="2204" dirty="0"/>
                  <a:t>Similarly, we say that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204" dirty="0"/>
                  <a:t> and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204" dirty="0"/>
                  <a:t> are independent RVs if the events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204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204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204" dirty="0"/>
                  <a:t> and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204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204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4" dirty="0"/>
                  <a:t> are independent for all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204" dirty="0"/>
                  <a:t> and </a:t>
                </a:r>
                <a14:m>
                  <m:oMath xmlns:m="http://schemas.openxmlformats.org/officeDocument/2006/math">
                    <m:r>
                      <a:rPr lang="en-GB" sz="2204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4" dirty="0"/>
                  <a:t>. We can write</a:t>
                </a:r>
                <a:r>
                  <a:rPr lang="pl-PL" sz="2204" dirty="0"/>
                  <a:t>:</a:t>
                </a:r>
                <a:endParaRPr lang="en-GB" sz="2204" dirty="0"/>
              </a:p>
            </p:txBody>
          </p:sp>
        </mc:Choice>
        <mc:Fallback xmlns="">
          <p:sp>
            <p:nvSpPr>
              <p:cNvPr id="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2106" y="1849386"/>
                <a:ext cx="9558462" cy="5236582"/>
              </a:xfrm>
              <a:blipFill>
                <a:blip r:embed="rId3"/>
                <a:stretch>
                  <a:fillRect l="-765" t="-698" r="-127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ytuł 1"/>
          <p:cNvSpPr txBox="1">
            <a:spLocks/>
          </p:cNvSpPr>
          <p:nvPr/>
        </p:nvSpPr>
        <p:spPr>
          <a:xfrm>
            <a:off x="3428795" y="470532"/>
            <a:ext cx="8261773" cy="125941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l-PL" sz="4848" dirty="0">
                <a:effectLst/>
              </a:rPr>
              <a:t>Independent</a:t>
            </a:r>
            <a:r>
              <a:rPr lang="pl-PL" sz="4848" dirty="0"/>
              <a:t> </a:t>
            </a:r>
            <a:r>
              <a:rPr lang="pl-PL" sz="4848" dirty="0" err="1">
                <a:effectLst/>
              </a:rPr>
              <a:t>RVs</a:t>
            </a:r>
            <a:endParaRPr lang="en-GB" sz="4848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/>
              <p:cNvSpPr txBox="1"/>
              <p:nvPr/>
            </p:nvSpPr>
            <p:spPr>
              <a:xfrm>
                <a:off x="3762368" y="2333783"/>
                <a:ext cx="4345144" cy="467992"/>
              </a:xfrm>
              <a:prstGeom prst="rect">
                <a:avLst/>
              </a:prstGeom>
              <a:noFill/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79333" tIns="79333" rIns="79333" bIns="79333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  <m: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𝔹</m:t>
                          </m:r>
                        </m:e>
                      </m:d>
                      <m:r>
                        <a:rPr lang="pl-P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368" y="2333783"/>
                <a:ext cx="4345144" cy="467992"/>
              </a:xfrm>
              <a:prstGeom prst="rect">
                <a:avLst/>
              </a:prstGeom>
              <a:blipFill>
                <a:blip r:embed="rId4"/>
                <a:stretch>
                  <a:fillRect b="-3704"/>
                </a:stretch>
              </a:blipFill>
              <a:ln w="254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/>
              <p:cNvSpPr txBox="1"/>
              <p:nvPr/>
            </p:nvSpPr>
            <p:spPr>
              <a:xfrm>
                <a:off x="3781053" y="4187938"/>
                <a:ext cx="43484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l-PL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pole tekstow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053" y="4187938"/>
                <a:ext cx="4348434" cy="307777"/>
              </a:xfrm>
              <a:prstGeom prst="rect">
                <a:avLst/>
              </a:prstGeom>
              <a:blipFill>
                <a:blip r:embed="rId5"/>
                <a:stretch>
                  <a:fillRect l="-840" r="-1401" b="-4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/>
              <p:cNvSpPr txBox="1"/>
              <p:nvPr/>
            </p:nvSpPr>
            <p:spPr>
              <a:xfrm>
                <a:off x="3781053" y="4655841"/>
                <a:ext cx="23062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053" y="4655841"/>
                <a:ext cx="2306272" cy="307777"/>
              </a:xfrm>
              <a:prstGeom prst="rect">
                <a:avLst/>
              </a:prstGeom>
              <a:blipFill>
                <a:blip r:embed="rId6"/>
                <a:stretch>
                  <a:fillRect l="-3166" r="-2902" b="-4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/>
              <p:cNvSpPr txBox="1"/>
              <p:nvPr/>
            </p:nvSpPr>
            <p:spPr>
              <a:xfrm>
                <a:off x="2609836" y="6210736"/>
                <a:ext cx="44496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)→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pole tekstow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36" y="6210736"/>
                <a:ext cx="4449616" cy="307777"/>
              </a:xfrm>
              <a:prstGeom prst="rect">
                <a:avLst/>
              </a:prstGeom>
              <a:blipFill>
                <a:blip r:embed="rId7"/>
                <a:stretch>
                  <a:fillRect l="-822" r="-274" b="-4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/>
              <p:cNvSpPr txBox="1"/>
              <p:nvPr/>
            </p:nvSpPr>
            <p:spPr>
              <a:xfrm>
                <a:off x="7537182" y="6185193"/>
                <a:ext cx="23809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pole tekstow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182" y="6185193"/>
                <a:ext cx="2380972" cy="307777"/>
              </a:xfrm>
              <a:prstGeom prst="rect">
                <a:avLst/>
              </a:prstGeom>
              <a:blipFill>
                <a:blip r:embed="rId8"/>
                <a:stretch>
                  <a:fillRect l="-1535" r="-3069" b="-4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6BCF15D-D873-16E1-23BA-777E2B3B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A14-26B4-45AD-8E76-DD7FE3141672}" type="slidenum">
              <a:rPr lang="en-US" altLang="pl-PL" smtClean="0"/>
              <a:pPr/>
              <a:t>50</a:t>
            </a:fld>
            <a:endParaRPr lang="en-US" altLang="pl-PL"/>
          </a:p>
        </p:txBody>
      </p:sp>
      <p:sp>
        <p:nvSpPr>
          <p:cNvPr id="12" name="Symbol zastępczy stopki 11">
            <a:extLst>
              <a:ext uri="{FF2B5EF4-FFF2-40B4-BE49-F238E27FC236}">
                <a16:creationId xmlns:a16="http://schemas.microsoft.com/office/drawing/2014/main" id="{B9ACCE7A-81A0-EBA9-EFD1-6753D23D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Statistics - Computer Science AGH University of Krakow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1060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 - Default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4913</Words>
  <Application>Microsoft Office PowerPoint</Application>
  <PresentationFormat>Custom</PresentationFormat>
  <Paragraphs>527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Arial</vt:lpstr>
      <vt:lpstr>Calibri</vt:lpstr>
      <vt:lpstr>Calibri Light</vt:lpstr>
      <vt:lpstr>Cambria Math</vt:lpstr>
      <vt:lpstr>Courier New</vt:lpstr>
      <vt:lpstr>Helvetica Neue</vt:lpstr>
      <vt:lpstr>Lato</vt:lpstr>
      <vt:lpstr>Verdana</vt:lpstr>
      <vt:lpstr>Wingdings</vt:lpstr>
      <vt:lpstr>Blank Presentation - Default</vt:lpstr>
      <vt:lpstr>Introduction to probability, statistics and data handling   </vt:lpstr>
      <vt:lpstr>Intro</vt:lpstr>
      <vt:lpstr>Intro</vt:lpstr>
      <vt:lpstr>Data and Experiments</vt:lpstr>
      <vt:lpstr>Where can you find statistics?</vt:lpstr>
      <vt:lpstr>PowerPoint Presentation</vt:lpstr>
      <vt:lpstr>PowerPoint Presentation</vt:lpstr>
      <vt:lpstr>Probability vs statistics</vt:lpstr>
      <vt:lpstr>Sample space (I) </vt:lpstr>
      <vt:lpstr>Sample space (II)</vt:lpstr>
      <vt:lpstr>Events (I)</vt:lpstr>
      <vt:lpstr>Events (II)</vt:lpstr>
      <vt:lpstr>Sets and examples</vt:lpstr>
      <vt:lpstr>Events (III)</vt:lpstr>
      <vt:lpstr>Events (IV)</vt:lpstr>
      <vt:lpstr>Probability (I)</vt:lpstr>
      <vt:lpstr>Probability (II)</vt:lpstr>
      <vt:lpstr>Probability (III)</vt:lpstr>
      <vt:lpstr>Examples</vt:lpstr>
      <vt:lpstr>Conditional probability</vt:lpstr>
      <vt:lpstr>Conditional probability</vt:lpstr>
      <vt:lpstr>Some theorems on CP </vt:lpstr>
      <vt:lpstr>Independent events</vt:lpstr>
      <vt:lpstr>Bayes’ Theorem (I)</vt:lpstr>
      <vt:lpstr>Bayes’ Theorem (II)</vt:lpstr>
      <vt:lpstr>Bayes’ Theorem (III)</vt:lpstr>
      <vt:lpstr>Bayes’ Theorem (IV)</vt:lpstr>
      <vt:lpstr>Bayes’ Theorem Example</vt:lpstr>
      <vt:lpstr>Bayes’ Theorem Example</vt:lpstr>
      <vt:lpstr>Bayes’ Theorem Example</vt:lpstr>
      <vt:lpstr>Another example</vt:lpstr>
      <vt:lpstr>PowerPoint Presentation</vt:lpstr>
      <vt:lpstr>PowerPoint Presentation</vt:lpstr>
      <vt:lpstr>Distribution function (I)</vt:lpstr>
      <vt:lpstr>Distribution function (II)</vt:lpstr>
      <vt:lpstr>Continuous RV</vt:lpstr>
      <vt:lpstr>Graphical interpretation</vt:lpstr>
      <vt:lpstr>PowerPoint Presentation</vt:lpstr>
      <vt:lpstr>PowerPoint Presentation</vt:lpstr>
      <vt:lpstr>Distribution function (I)</vt:lpstr>
      <vt:lpstr>Distribution function (II)</vt:lpstr>
      <vt:lpstr>Continuous RV</vt:lpstr>
      <vt:lpstr>Graphical interpretation</vt:lpstr>
      <vt:lpstr>Joint distributions (I) </vt:lpstr>
      <vt:lpstr>Joint distributions (II) </vt:lpstr>
      <vt:lpstr>Joint distributions (III) </vt:lpstr>
      <vt:lpstr>Joint distributions (IV)</vt:lpstr>
      <vt:lpstr>Joint distributions (V)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Maciek</dc:creator>
  <cp:lastModifiedBy>Saliha Bashir</cp:lastModifiedBy>
  <cp:revision>30</cp:revision>
  <dcterms:modified xsi:type="dcterms:W3CDTF">2025-10-01T13:54:48Z</dcterms:modified>
</cp:coreProperties>
</file>